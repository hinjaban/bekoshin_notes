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90" r:id="rId6"/>
    <p:sldId id="291" r:id="rId7"/>
    <p:sldId id="288" r:id="rId8"/>
    <p:sldId id="271" r:id="rId9"/>
    <p:sldId id="292" r:id="rId10"/>
    <p:sldId id="273" r:id="rId11"/>
    <p:sldId id="287" r:id="rId12"/>
    <p:sldId id="293" r:id="rId13"/>
  </p:sldIdLst>
  <p:sldSz cx="12190413" cy="6859588"/>
  <p:notesSz cx="6858000" cy="9144000"/>
  <p:defaultTextStyle>
    <a:defPPr>
      <a:defRPr lang="ru-RU"/>
    </a:defPPr>
    <a:lvl1pPr marL="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3">
          <p15:clr>
            <a:srgbClr val="A4A3A4"/>
          </p15:clr>
        </p15:guide>
        <p15:guide id="2" orient="horz" pos="176">
          <p15:clr>
            <a:srgbClr val="A4A3A4"/>
          </p15:clr>
        </p15:guide>
        <p15:guide id="3" pos="7482">
          <p15:clr>
            <a:srgbClr val="A4A3A4"/>
          </p15:clr>
        </p15:guide>
        <p15:guide id="4" pos="196">
          <p15:clr>
            <a:srgbClr val="A4A3A4"/>
          </p15:clr>
        </p15:guide>
        <p15:guide id="5" orient="horz" pos="2160">
          <p15:clr>
            <a:srgbClr val="A4A3A4"/>
          </p15:clr>
        </p15:guide>
        <p15:guide id="6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5D5C"/>
    <a:srgbClr val="E63538"/>
    <a:srgbClr val="FF6600"/>
    <a:srgbClr val="008000"/>
    <a:srgbClr val="FF3300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04" autoAdjust="0"/>
    <p:restoredTop sz="88673" autoAdjust="0"/>
  </p:normalViewPr>
  <p:slideViewPr>
    <p:cSldViewPr snapToGrid="0" snapToObjects="1" showGuides="1">
      <p:cViewPr varScale="1">
        <p:scale>
          <a:sx n="79" d="100"/>
          <a:sy n="79" d="100"/>
        </p:scale>
        <p:origin x="82" y="101"/>
      </p:cViewPr>
      <p:guideLst>
        <p:guide orient="horz" pos="4143"/>
        <p:guide orient="horz" pos="176"/>
        <p:guide pos="7482"/>
        <p:guide pos="196"/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2" d="100"/>
        <a:sy n="142" d="100"/>
      </p:scale>
      <p:origin x="0" y="0"/>
    </p:cViewPr>
  </p:sorterViewPr>
  <p:notesViewPr>
    <p:cSldViewPr snapToGrid="0" snapToObjects="1" showGuides="1">
      <p:cViewPr varScale="1">
        <p:scale>
          <a:sx n="87" d="100"/>
          <a:sy n="87" d="100"/>
        </p:scale>
        <p:origin x="-354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FC8F61-8705-440C-8B29-6BD7C90BE63C}" type="datetimeFigureOut">
              <a:rPr lang="ru-RU" smtClean="0"/>
              <a:pPr/>
              <a:t>07.04.2025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BE808-1554-468C-B2C2-0DAAB620BEF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01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896A2-B392-49D6-B011-BDC8CAECD43A}" type="datetimeFigureOut">
              <a:rPr lang="ru-RU" smtClean="0"/>
              <a:pPr/>
              <a:t>07.04.2025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9DFDB-5F00-45A8-8ECA-5F26B55FE99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673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86130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7226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58391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34452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93065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516782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10291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689043" algn="l" defTabSz="1172261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6148431" y="-1"/>
            <a:ext cx="6041982" cy="68595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281" y="1841949"/>
            <a:ext cx="5753344" cy="2844046"/>
          </a:xfr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14281" y="4685995"/>
            <a:ext cx="5753344" cy="1078445"/>
          </a:xfrm>
        </p:spPr>
        <p:txBody>
          <a:bodyPr>
            <a:normAutofit/>
          </a:bodyPr>
          <a:lstStyle>
            <a:lvl1pPr marL="0" indent="0" algn="l">
              <a:buNone/>
              <a:defRPr sz="2100">
                <a:solidFill>
                  <a:schemeClr val="bg1">
                    <a:lumMod val="95000"/>
                  </a:schemeClr>
                </a:solidFill>
              </a:defRPr>
            </a:lvl1pPr>
            <a:lvl2pPr marL="5861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72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583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44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306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167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029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89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1111" y="6357823"/>
            <a:ext cx="7714245" cy="36521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784630" y="687152"/>
            <a:ext cx="4012647" cy="826257"/>
          </a:xfrm>
          <a:prstGeom prst="rect">
            <a:avLst/>
          </a:prstGeom>
          <a:noFill/>
        </p:spPr>
        <p:txBody>
          <a:bodyPr wrap="none" lIns="117226" tIns="58613" rIns="117226" bIns="58613" rtlCol="0">
            <a:spAutoFit/>
          </a:bodyPr>
          <a:lstStyle/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Череповецкий</a:t>
            </a:r>
            <a:endParaRPr lang="en-US" b="0" i="0" dirty="0">
              <a:solidFill>
                <a:schemeClr val="bg1"/>
              </a:solidFill>
              <a:latin typeface="+mj-lt"/>
            </a:endParaRPr>
          </a:p>
          <a:p>
            <a:pPr marL="0" marR="0" indent="0" algn="ctr" defTabSz="117226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0" i="0" dirty="0">
                <a:solidFill>
                  <a:schemeClr val="bg1"/>
                </a:solidFill>
                <a:latin typeface="+mj-lt"/>
              </a:rPr>
              <a:t>государственный университет</a:t>
            </a:r>
            <a:endParaRPr lang="ru-RU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514457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0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9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0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6118257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Содержимое 2"/>
          <p:cNvSpPr>
            <a:spLocks noGrp="1"/>
          </p:cNvSpPr>
          <p:nvPr>
            <p:ph idx="1"/>
          </p:nvPr>
        </p:nvSpPr>
        <p:spPr>
          <a:xfrm>
            <a:off x="512515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Содержимое 2"/>
          <p:cNvSpPr>
            <a:spLocks noGrp="1"/>
          </p:cNvSpPr>
          <p:nvPr>
            <p:ph idx="16"/>
          </p:nvPr>
        </p:nvSpPr>
        <p:spPr>
          <a:xfrm>
            <a:off x="6289712" y="983009"/>
            <a:ext cx="5434286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2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11110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cxnSp>
        <p:nvCxnSpPr>
          <p:cNvPr id="13" name="Прямая соединительная линия 12"/>
          <p:cNvCxnSpPr/>
          <p:nvPr userDrawn="1"/>
        </p:nvCxnSpPr>
        <p:spPr>
          <a:xfrm>
            <a:off x="4105386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одержимое 2"/>
          <p:cNvSpPr>
            <a:spLocks noGrp="1"/>
          </p:cNvSpPr>
          <p:nvPr>
            <p:ph idx="13"/>
          </p:nvPr>
        </p:nvSpPr>
        <p:spPr>
          <a:xfrm>
            <a:off x="4288638" y="983010"/>
            <a:ext cx="3611023" cy="5144571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cxnSp>
        <p:nvCxnSpPr>
          <p:cNvPr id="11" name="Прямая соединительная линия 10"/>
          <p:cNvCxnSpPr/>
          <p:nvPr userDrawn="1"/>
        </p:nvCxnSpPr>
        <p:spPr>
          <a:xfrm>
            <a:off x="8082913" y="983009"/>
            <a:ext cx="0" cy="5144573"/>
          </a:xfrm>
          <a:prstGeom prst="line">
            <a:avLst/>
          </a:prstGeom>
          <a:ln w="12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одержимое 2"/>
          <p:cNvSpPr>
            <a:spLocks noGrp="1"/>
          </p:cNvSpPr>
          <p:nvPr>
            <p:ph idx="14"/>
          </p:nvPr>
        </p:nvSpPr>
        <p:spPr>
          <a:xfrm>
            <a:off x="8266164" y="983010"/>
            <a:ext cx="3611023" cy="5144572"/>
          </a:xfrm>
        </p:spPr>
        <p:txBody>
          <a:bodyPr anchor="ctr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5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6174715" y="983009"/>
            <a:ext cx="5517482" cy="5144573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5517690" cy="5144691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объект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Содержимое 2"/>
          <p:cNvSpPr>
            <a:spLocks noGrp="1"/>
          </p:cNvSpPr>
          <p:nvPr>
            <p:ph idx="13"/>
          </p:nvPr>
        </p:nvSpPr>
        <p:spPr>
          <a:xfrm>
            <a:off x="524514" y="3932036"/>
            <a:ext cx="11167682" cy="2195546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/>
          </p:nvPr>
        </p:nvSpPr>
        <p:spPr>
          <a:xfrm>
            <a:off x="524514" y="983208"/>
            <a:ext cx="11167682" cy="279612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pic>
        <p:nvPicPr>
          <p:cNvPr id="7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г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18"/>
          <p:cNvSpPr>
            <a:spLocks noGrp="1"/>
          </p:cNvSpPr>
          <p:nvPr>
            <p:ph type="body" sz="quarter" idx="24"/>
          </p:nvPr>
        </p:nvSpPr>
        <p:spPr>
          <a:xfrm>
            <a:off x="2088070" y="3878127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2" name="Текст 18"/>
          <p:cNvSpPr>
            <a:spLocks noGrp="1"/>
          </p:cNvSpPr>
          <p:nvPr>
            <p:ph type="body" sz="quarter" idx="26"/>
          </p:nvPr>
        </p:nvSpPr>
        <p:spPr>
          <a:xfrm>
            <a:off x="7802084" y="3876272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24" name="Текст 18"/>
          <p:cNvSpPr>
            <a:spLocks noGrp="1"/>
          </p:cNvSpPr>
          <p:nvPr>
            <p:ph type="body" sz="quarter" idx="28"/>
          </p:nvPr>
        </p:nvSpPr>
        <p:spPr>
          <a:xfrm>
            <a:off x="7802084" y="162053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23"/>
          </p:nvPr>
        </p:nvSpPr>
        <p:spPr>
          <a:xfrm>
            <a:off x="2088879" y="1619625"/>
            <a:ext cx="3667705" cy="141955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</p:spPr>
        <p:txBody>
          <a:bodyPr/>
          <a:lstStyle>
            <a:lvl1pPr algn="l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6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Рисунок 25"/>
          <p:cNvSpPr>
            <a:spLocks noGrp="1"/>
          </p:cNvSpPr>
          <p:nvPr>
            <p:ph type="pic" sz="quarter" idx="30"/>
          </p:nvPr>
        </p:nvSpPr>
        <p:spPr>
          <a:xfrm>
            <a:off x="758776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7" name="Рисунок 25"/>
          <p:cNvSpPr>
            <a:spLocks noGrp="1"/>
          </p:cNvSpPr>
          <p:nvPr>
            <p:ph type="pic" sz="quarter" idx="31"/>
          </p:nvPr>
        </p:nvSpPr>
        <p:spPr>
          <a:xfrm>
            <a:off x="6464251" y="1813465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8" name="Рисунок 25"/>
          <p:cNvSpPr>
            <a:spLocks noGrp="1"/>
          </p:cNvSpPr>
          <p:nvPr>
            <p:ph type="pic" sz="quarter" idx="32"/>
          </p:nvPr>
        </p:nvSpPr>
        <p:spPr>
          <a:xfrm>
            <a:off x="6464251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  <p:sp>
        <p:nvSpPr>
          <p:cNvPr id="29" name="Рисунок 25"/>
          <p:cNvSpPr>
            <a:spLocks noGrp="1"/>
          </p:cNvSpPr>
          <p:nvPr>
            <p:ph type="pic" sz="quarter" idx="33"/>
          </p:nvPr>
        </p:nvSpPr>
        <p:spPr>
          <a:xfrm>
            <a:off x="758776" y="4070112"/>
            <a:ext cx="1031875" cy="1031875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аблица 1"/>
          <p:cNvSpPr>
            <a:spLocks noGrp="1"/>
          </p:cNvSpPr>
          <p:nvPr userDrawn="1">
            <p:ph type="tbl" sz="quarter" idx="12"/>
          </p:nvPr>
        </p:nvSpPr>
        <p:spPr>
          <a:xfrm>
            <a:off x="487617" y="2109174"/>
            <a:ext cx="11204580" cy="4027474"/>
          </a:xfrm>
        </p:spPr>
      </p:sp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2" name="Текст 10"/>
          <p:cNvSpPr>
            <a:spLocks noGrp="1"/>
          </p:cNvSpPr>
          <p:nvPr>
            <p:ph type="body" sz="quarter" idx="14"/>
          </p:nvPr>
        </p:nvSpPr>
        <p:spPr>
          <a:xfrm>
            <a:off x="487616" y="991957"/>
            <a:ext cx="11204580" cy="1117217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0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оугольник 4"/>
          <p:cNvSpPr/>
          <p:nvPr userDrawn="1"/>
        </p:nvSpPr>
        <p:spPr>
          <a:xfrm>
            <a:off x="0" y="1"/>
            <a:ext cx="12190413" cy="77701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177800" dist="63500" dir="5400000" algn="tl" rotWithShape="0">
              <a:prstClr val="black">
                <a:alpha val="3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7226" tIns="58613" rIns="117226" bIns="58613"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 txBox="1">
            <a:spLocks/>
          </p:cNvSpPr>
          <p:nvPr userDrawn="1"/>
        </p:nvSpPr>
        <p:spPr>
          <a:xfrm>
            <a:off x="311110" y="1"/>
            <a:ext cx="11119190" cy="777014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>
            <a:lvl1pPr algn="l">
              <a:defRPr/>
            </a:lvl1pPr>
          </a:lstStyle>
          <a:p>
            <a:pPr marL="0" marR="0" lvl="0" indent="0" algn="l" defTabSz="117226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Образец заголовка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6"/>
          </p:nvPr>
        </p:nvSpPr>
        <p:spPr>
          <a:xfrm>
            <a:off x="561820" y="3263209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5" name="Текст 13"/>
          <p:cNvSpPr>
            <a:spLocks noGrp="1"/>
          </p:cNvSpPr>
          <p:nvPr>
            <p:ph type="body" sz="quarter" idx="17"/>
          </p:nvPr>
        </p:nvSpPr>
        <p:spPr>
          <a:xfrm>
            <a:off x="3390024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8"/>
          </p:nvPr>
        </p:nvSpPr>
        <p:spPr>
          <a:xfrm>
            <a:off x="6218227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17" name="Текст 13"/>
          <p:cNvSpPr>
            <a:spLocks noGrp="1"/>
          </p:cNvSpPr>
          <p:nvPr>
            <p:ph type="body" sz="quarter" idx="19"/>
          </p:nvPr>
        </p:nvSpPr>
        <p:spPr>
          <a:xfrm>
            <a:off x="9046431" y="3262396"/>
            <a:ext cx="2657551" cy="261575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pic>
        <p:nvPicPr>
          <p:cNvPr id="18" name="Picture 6" descr="G:\CHSU\Бакалавриат\Презентации\ЧГУ (Brandbook)_титул_700 - копия.png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11508036" y="1"/>
            <a:ext cx="682377" cy="777014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Рисунок 19"/>
          <p:cNvSpPr>
            <a:spLocks noGrp="1"/>
          </p:cNvSpPr>
          <p:nvPr>
            <p:ph type="pic" sz="quarter" idx="20"/>
          </p:nvPr>
        </p:nvSpPr>
        <p:spPr>
          <a:xfrm>
            <a:off x="859466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1" name="Рисунок 19"/>
          <p:cNvSpPr>
            <a:spLocks noGrp="1"/>
          </p:cNvSpPr>
          <p:nvPr>
            <p:ph type="pic" sz="quarter" idx="21"/>
          </p:nvPr>
        </p:nvSpPr>
        <p:spPr>
          <a:xfrm>
            <a:off x="3687670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2" name="Рисунок 19"/>
          <p:cNvSpPr>
            <a:spLocks noGrp="1"/>
          </p:cNvSpPr>
          <p:nvPr>
            <p:ph type="pic" sz="quarter" idx="22"/>
          </p:nvPr>
        </p:nvSpPr>
        <p:spPr>
          <a:xfrm>
            <a:off x="6515873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  <p:sp>
        <p:nvSpPr>
          <p:cNvPr id="23" name="Рисунок 19"/>
          <p:cNvSpPr>
            <a:spLocks noGrp="1"/>
          </p:cNvSpPr>
          <p:nvPr>
            <p:ph type="pic" sz="quarter" idx="23"/>
          </p:nvPr>
        </p:nvSpPr>
        <p:spPr>
          <a:xfrm>
            <a:off x="9344077" y="1112742"/>
            <a:ext cx="2062258" cy="2062258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521" y="274701"/>
            <a:ext cx="10971372" cy="1143265"/>
          </a:xfrm>
          <a:prstGeom prst="rect">
            <a:avLst/>
          </a:prstGeom>
        </p:spPr>
        <p:txBody>
          <a:bodyPr vert="horz" lIns="117226" tIns="58613" rIns="117226" bIns="58613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521" y="1600571"/>
            <a:ext cx="10971372" cy="4527011"/>
          </a:xfrm>
          <a:prstGeom prst="rect">
            <a:avLst/>
          </a:prstGeom>
        </p:spPr>
        <p:txBody>
          <a:bodyPr vert="horz" lIns="117226" tIns="58613" rIns="117226" bIns="58613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1111" y="6357823"/>
            <a:ext cx="7714245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</p:spPr>
        <p:txBody>
          <a:bodyPr vert="horz" lIns="117226" tIns="58613" rIns="117226" bIns="5861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4C55D1-92A9-4B02-AD60-DEC4B6659F3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algn="l" defTabSz="1172261" rtl="0" eaLnBrk="1" latinLnBrk="0" hangingPunct="1">
        <a:spcBef>
          <a:spcPct val="0"/>
        </a:spcBef>
        <a:buNone/>
        <a:defRPr sz="31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036" indent="-2036" algn="l" defTabSz="1172261" rtl="0" eaLnBrk="1" latinLnBrk="0" hangingPunct="1">
        <a:spcBef>
          <a:spcPct val="20000"/>
        </a:spcBef>
        <a:buFont typeface="Arial" pitchFamily="34" charset="0"/>
        <a:buNone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461985" indent="-4070" algn="l" defTabSz="1172261" rtl="0" eaLnBrk="1" latinLnBrk="0" hangingPunct="1">
        <a:spcBef>
          <a:spcPct val="20000"/>
        </a:spcBef>
        <a:buFont typeface="Arial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373744" indent="2036" algn="l" defTabSz="1172261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bg1">
              <a:lumMod val="75000"/>
            </a:schemeClr>
          </a:solidFill>
          <a:latin typeface="+mn-lt"/>
          <a:ea typeface="+mn-ea"/>
          <a:cs typeface="+mn-cs"/>
        </a:defRPr>
      </a:lvl3pPr>
      <a:lvl4pPr marL="2051456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37587" indent="-293065" algn="l" defTabSz="1172261" rtl="0" eaLnBrk="1" latinLnBrk="0" hangingPunct="1">
        <a:spcBef>
          <a:spcPct val="20000"/>
        </a:spcBef>
        <a:buFont typeface="Arial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23717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0984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39597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4982108" indent="-293065" algn="l" defTabSz="11722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86130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7226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58391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4452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3065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16782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0291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89043" algn="l" defTabSz="1172261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281" y="2261826"/>
            <a:ext cx="5753344" cy="2844046"/>
          </a:xfrm>
        </p:spPr>
        <p:txBody>
          <a:bodyPr/>
          <a:lstStyle/>
          <a:p>
            <a:r>
              <a:rPr lang="ru-RU" dirty="0"/>
              <a:t>«</a:t>
            </a:r>
            <a:r>
              <a:rPr lang="en-US" dirty="0"/>
              <a:t>IT-</a:t>
            </a:r>
            <a:r>
              <a:rPr lang="ru-RU" dirty="0"/>
              <a:t>инвентаризация ЧГУ – автоматизированная система управления списанием технического оборудования на базе </a:t>
            </a:r>
            <a:r>
              <a:rPr lang="ru-RU" dirty="0" err="1"/>
              <a:t>Битрикс</a:t>
            </a:r>
            <a:r>
              <a:rPr lang="ru-RU" dirty="0"/>
              <a:t>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>
                <a:solidFill>
                  <a:srgbClr val="000000">
                    <a:tint val="75000"/>
                  </a:srgbClr>
                </a:solidFill>
              </a:rPr>
              <a:pPr/>
              <a:t>2</a:t>
            </a:fld>
            <a:endParaRPr lang="ru-RU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Проблемная ситуация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09520" y="1144509"/>
            <a:ext cx="10971372" cy="4845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3200" dirty="0"/>
              <a:t>Ручной учет оборудования приводит к ошибкам, потере данных и несвоевременному списанию;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200" dirty="0"/>
              <a:t>Отсутствие единого реестра активов: сложно отследить состояние, местоположение и историю использования;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200" dirty="0"/>
              <a:t>Длительные согласования списания между отделами (</a:t>
            </a:r>
            <a:r>
              <a:rPr lang="en-US" sz="3200" dirty="0"/>
              <a:t>IT-</a:t>
            </a:r>
            <a:r>
              <a:rPr lang="ru-RU" sz="3200" dirty="0"/>
              <a:t>служба, бухгалтерия, руководство);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3200" dirty="0"/>
              <a:t>Риск нарушений при списании (неправильное оформление документов, утилизация).</a:t>
            </a:r>
          </a:p>
        </p:txBody>
      </p:sp>
    </p:spTree>
    <p:extLst>
      <p:ext uri="{BB962C8B-B14F-4D97-AF65-F5344CB8AC3E}">
        <p14:creationId xmlns:p14="http://schemas.microsoft.com/office/powerpoint/2010/main" val="2596323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" name="Google Shape;118;p2"/>
          <p:cNvGraphicFramePr/>
          <p:nvPr>
            <p:extLst>
              <p:ext uri="{D42A27DB-BD31-4B8C-83A1-F6EECF244321}">
                <p14:modId xmlns:p14="http://schemas.microsoft.com/office/powerpoint/2010/main" val="3244808388"/>
              </p:ext>
            </p:extLst>
          </p:nvPr>
        </p:nvGraphicFramePr>
        <p:xfrm>
          <a:off x="419100" y="906253"/>
          <a:ext cx="11161700" cy="56341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5580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96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u="none" strike="noStrike" cap="none" dirty="0">
                          <a:solidFill>
                            <a:schemeClr val="bg1"/>
                          </a:solidFill>
                        </a:rPr>
                        <a:t>Проблема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bg1"/>
                          </a:solidFill>
                        </a:rPr>
                        <a:t>Показатели эффективности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39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Ручной ввод, отсутствие единого реестра активов, длительные согласования списаний между отделами, риск нарушений при списании.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1. Сокращение сроков списания оборудования – с 30 до 7 дней. 2. Уменьшение ошибок в учете на 80%. 3. Прозрачность процессов: 100% оборудования отслеживается в системе. 4. Снижение затрат на хранение неиспользуемых активов на 40%. 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Цель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Тип</a:t>
                      </a:r>
                      <a:r>
                        <a:rPr lang="ru-RU" sz="2000" b="1" baseline="0" dirty="0">
                          <a:solidFill>
                            <a:schemeClr val="lt1"/>
                          </a:solidFill>
                        </a:rPr>
                        <a:t>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Сложность проекта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914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Создание централизованной системы для автоматизации процессов учета, проверки и списания устаревшего или нерабочего оборудования ЧГУ, обеспечивающей прозрачность, контроль и соответствие регламентам.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IT-</a:t>
                      </a:r>
                      <a:r>
                        <a:rPr lang="ru-RU" sz="1400" dirty="0"/>
                        <a:t>решение (с элементами организационного и методического решений – кастомизация под ВУЗ, изменение бизнес-процессов).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B </a:t>
                      </a:r>
                      <a:r>
                        <a:rPr lang="ru-RU" sz="1400" dirty="0"/>
                        <a:t>– повышенная сложность (ввиду интеграций с 1</a:t>
                      </a:r>
                      <a:r>
                        <a:rPr lang="en-US" sz="1400" dirty="0"/>
                        <a:t>C</a:t>
                      </a:r>
                      <a:r>
                        <a:rPr lang="ru-RU" sz="1400" dirty="0"/>
                        <a:t>, адаптации под ВУЗ, наличия мобильных решений, </a:t>
                      </a:r>
                      <a:r>
                        <a:rPr lang="ru-RU" sz="1400" dirty="0" err="1"/>
                        <a:t>дашбордов</a:t>
                      </a:r>
                      <a:r>
                        <a:rPr lang="ru-RU" sz="1400" dirty="0"/>
                        <a:t>, многоуровневой ролевой модели)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94">
                <a:tc gridSpan="3"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Описание продуктового результата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8749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Работающая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IT-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система на базе </a:t>
                      </a:r>
                      <a:r>
                        <a:rPr lang="ru-RU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Битрикс24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адоптированная под процессы списания оборудования в ЧГУ; централизованный реестр оборудования с возможностью идентификации по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QR-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кодам; автоматизированные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workflow 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 заявкам, согласованиям и актам списания; отчеты и </a:t>
                      </a:r>
                      <a:r>
                        <a:rPr lang="ru-RU" sz="14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дашборды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по состоянию оборудования (через </a:t>
                      </a:r>
                      <a:r>
                        <a:rPr lang="en-US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Power BI</a:t>
                      </a:r>
                      <a:r>
                        <a:rPr lang="ru-RU" sz="14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); инструкции и обучающий материал для пользователей.</a:t>
                      </a: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12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Срок реализации проекта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000" b="1" dirty="0">
                          <a:solidFill>
                            <a:schemeClr val="lt1"/>
                          </a:solidFill>
                        </a:rPr>
                        <a:t>Заказчик</a:t>
                      </a:r>
                      <a:endParaRPr sz="2000" b="1" dirty="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05D5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267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07.04.2025 – 07.04.2026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Организация-заказчик: </a:t>
                      </a:r>
                      <a:r>
                        <a:rPr lang="ru-RU" sz="1400" dirty="0" err="1"/>
                        <a:t>УИТ</a:t>
                      </a:r>
                      <a:r>
                        <a:rPr lang="ru-RU" sz="1400" dirty="0"/>
                        <a:t> ЧГУ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/>
                        <a:t>Представитель заказчика: Тарасов Александр Львович</a:t>
                      </a:r>
                      <a:endParaRPr sz="1400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9" name="Google Shape;119;p2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20" name="Google Shape;120;p2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ru-RU" dirty="0"/>
              <a:t>Карточка проекта «</a:t>
            </a:r>
            <a:r>
              <a:rPr lang="en-US" dirty="0"/>
              <a:t>IT-</a:t>
            </a:r>
            <a:r>
              <a:rPr lang="ru-RU" dirty="0"/>
              <a:t>инвентаризация ЧГУ»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7177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311110" y="1"/>
            <a:ext cx="11119190" cy="77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Calibri"/>
              <a:buNone/>
            </a:pPr>
            <a:r>
              <a:rPr lang="ru-RU"/>
              <a:t>Обзор существующих решений</a:t>
            </a:r>
            <a:endParaRPr/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11119776" y="6357823"/>
            <a:ext cx="757411" cy="365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225" tIns="58600" rIns="117225" bIns="586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solidFill>
                  <a:srgbClr val="888888"/>
                </a:solidFill>
              </a:rPr>
              <a:t>4</a:t>
            </a:fld>
            <a:endParaRPr>
              <a:solidFill>
                <a:srgbClr val="888888"/>
              </a:solidFill>
            </a:endParaRPr>
          </a:p>
        </p:txBody>
      </p:sp>
      <p:graphicFrame>
        <p:nvGraphicFramePr>
          <p:cNvPr id="128" name="Google Shape;128;p3"/>
          <p:cNvGraphicFramePr/>
          <p:nvPr>
            <p:extLst>
              <p:ext uri="{D42A27DB-BD31-4B8C-83A1-F6EECF244321}">
                <p14:modId xmlns:p14="http://schemas.microsoft.com/office/powerpoint/2010/main" val="1875258256"/>
              </p:ext>
            </p:extLst>
          </p:nvPr>
        </p:nvGraphicFramePr>
        <p:xfrm>
          <a:off x="609521" y="1235736"/>
          <a:ext cx="10268400" cy="21412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1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№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Подход к решению проблемы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Где применен (конкретная организация /отрасль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Источник (название статьи, ссылка на </a:t>
                      </a:r>
                      <a:r>
                        <a:rPr lang="ru-RU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интернет-ресурс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и пр.)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 1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 Внедрение </a:t>
                      </a:r>
                      <a:r>
                        <a:rPr lang="en-US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ITSM-</a:t>
                      </a: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системы на базе платформы </a:t>
                      </a:r>
                      <a:r>
                        <a:rPr lang="en-US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ServiceNow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Университет Южной Калифорнии (</a:t>
                      </a:r>
                      <a:r>
                        <a:rPr lang="en-US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USC</a:t>
                      </a: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), США 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How USC Improved IT Asset Management” — ServiceNow Case Study, https://</a:t>
                      </a:r>
                      <a:r>
                        <a:rPr lang="en-US" sz="1200" dirty="0" err="1">
                          <a:latin typeface="+mn-lt"/>
                          <a:ea typeface="Arial"/>
                          <a:cs typeface="Arial"/>
                          <a:sym typeface="Arial"/>
                        </a:rPr>
                        <a:t>www.servicenow.com</a:t>
                      </a:r>
                      <a:r>
                        <a:rPr lang="en-US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ru-RU" sz="12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QR-</a:t>
                      </a: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маркировка и учет через мобильное приложение + 1</a:t>
                      </a:r>
                      <a:r>
                        <a:rPr lang="en-US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МГТУ им. Баумана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Сайт университета «</a:t>
                      </a:r>
                      <a:r>
                        <a:rPr lang="en-US" sz="12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bmstu.ru</a:t>
                      </a: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»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Использование 1</a:t>
                      </a:r>
                      <a:r>
                        <a:rPr lang="en-US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: учет оборудования и инвентаря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Финансовый университет при Правительстве РФ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Сайт университета «</a:t>
                      </a:r>
                      <a:r>
                        <a:rPr lang="en-US" sz="12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fa.ru</a:t>
                      </a:r>
                      <a:r>
                        <a:rPr lang="ru-RU" sz="12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»</a:t>
                      </a:r>
                      <a:endParaRPr sz="12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6370619"/>
                  </a:ext>
                </a:extLst>
              </a:tr>
            </a:tbl>
          </a:graphicData>
        </a:graphic>
      </p:graphicFrame>
      <p:sp>
        <p:nvSpPr>
          <p:cNvPr id="129" name="Google Shape;129;p3"/>
          <p:cNvSpPr/>
          <p:nvPr/>
        </p:nvSpPr>
        <p:spPr>
          <a:xfrm>
            <a:off x="441570" y="772178"/>
            <a:ext cx="10163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Обзор существующих подходов к решению обозначенной проблемы</a:t>
            </a:r>
            <a:endParaRPr dirty="0"/>
          </a:p>
        </p:txBody>
      </p:sp>
      <p:sp>
        <p:nvSpPr>
          <p:cNvPr id="130" name="Google Shape;130;p3"/>
          <p:cNvSpPr/>
          <p:nvPr/>
        </p:nvSpPr>
        <p:spPr>
          <a:xfrm>
            <a:off x="441570" y="3435385"/>
            <a:ext cx="103352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Обзор существующих аналогов продуктового результата</a:t>
            </a:r>
            <a:endParaRPr dirty="0"/>
          </a:p>
        </p:txBody>
      </p:sp>
      <p:graphicFrame>
        <p:nvGraphicFramePr>
          <p:cNvPr id="131" name="Google Shape;131;p3"/>
          <p:cNvGraphicFramePr/>
          <p:nvPr>
            <p:extLst>
              <p:ext uri="{D42A27DB-BD31-4B8C-83A1-F6EECF244321}">
                <p14:modId xmlns:p14="http://schemas.microsoft.com/office/powerpoint/2010/main" val="1829156660"/>
              </p:ext>
            </p:extLst>
          </p:nvPr>
        </p:nvGraphicFramePr>
        <p:xfrm>
          <a:off x="609521" y="3869627"/>
          <a:ext cx="10268425" cy="2076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3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Предлагаемый командой продукт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1: </a:t>
                      </a:r>
                      <a:r>
                        <a:rPr lang="en-US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ServiceNow (USC)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Аналог </a:t>
                      </a:r>
                      <a:r>
                        <a:rPr lang="en-US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2: </a:t>
                      </a:r>
                      <a:r>
                        <a:rPr lang="en-US" sz="1100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1C</a:t>
                      </a:r>
                      <a:r>
                        <a:rPr lang="ru-RU" sz="11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+ мобильное приложение</a:t>
                      </a: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Централизованная база оборудования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с </a:t>
                      </a:r>
                      <a:r>
                        <a:rPr lang="en-US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QR-</a:t>
                      </a: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кодами, интеграцией в </a:t>
                      </a:r>
                      <a:r>
                        <a:rPr lang="ru-RU" sz="11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Битрикс24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с </a:t>
                      </a:r>
                      <a:r>
                        <a:rPr lang="en-US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RFID/QR</a:t>
                      </a: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-поддержкой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ведется в 1</a:t>
                      </a:r>
                      <a:r>
                        <a:rPr lang="en-US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</a:t>
                      </a:r>
                      <a:r>
                        <a:rPr lang="en-US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QR </a:t>
                      </a: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вручную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+mn-lt"/>
                          <a:ea typeface="Calibri"/>
                          <a:cs typeface="Arial"/>
                          <a:sym typeface="Arial"/>
                        </a:rPr>
                        <a:t>Workflow </a:t>
                      </a:r>
                      <a:r>
                        <a:rPr lang="ru-RU" sz="1100" dirty="0">
                          <a:latin typeface="+mn-lt"/>
                          <a:ea typeface="Calibri"/>
                          <a:cs typeface="Arial"/>
                          <a:sym typeface="Arial"/>
                        </a:rPr>
                        <a:t>по списанию и проверкам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автоматизирован через </a:t>
                      </a:r>
                      <a:r>
                        <a:rPr lang="ru-RU" sz="11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Битрикс24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через кастомные модули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Частично автоматизирован, часто требует ручного вмешательства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Arial"/>
                          <a:sym typeface="Arial"/>
                        </a:rPr>
                        <a:t>Интеграция с бухгалтерией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Да, через </a:t>
                      </a:r>
                      <a:r>
                        <a:rPr lang="ru-RU" sz="1100" dirty="0" err="1">
                          <a:latin typeface="+mn-lt"/>
                          <a:ea typeface="Arial"/>
                          <a:cs typeface="Arial"/>
                          <a:sym typeface="Arial"/>
                        </a:rPr>
                        <a:t>1С</a:t>
                      </a: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Да, через сторонние интеграторы 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Да, внутри 1</a:t>
                      </a:r>
                      <a:r>
                        <a:rPr lang="en-US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r>
                        <a:rPr lang="ru-RU" sz="1100" dirty="0">
                          <a:latin typeface="+mn-lt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Прогнозирование замены, аналитика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</a:t>
                      </a:r>
                      <a:r>
                        <a:rPr lang="ru-RU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через </a:t>
                      </a:r>
                      <a:r>
                        <a:rPr lang="en-US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Power BI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</a:t>
                      </a:r>
                      <a:r>
                        <a:rPr lang="ru-RU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через встроенные </a:t>
                      </a:r>
                      <a:r>
                        <a:rPr lang="ru-RU" sz="1100" baseline="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дашборды</a:t>
                      </a:r>
                      <a:r>
                        <a:rPr lang="ru-RU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ServiceNow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Ограниченно,</a:t>
                      </a:r>
                      <a:r>
                        <a:rPr lang="ru-RU" sz="1100" baseline="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через отчеты </a:t>
                      </a:r>
                      <a:r>
                        <a:rPr lang="ru-RU" sz="1100" baseline="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1С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547949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Мобильное сканирование </a:t>
                      </a:r>
                      <a:r>
                        <a:rPr lang="en-US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QR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через приложение </a:t>
                      </a:r>
                      <a:r>
                        <a:rPr lang="ru-RU" sz="11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Битрикс24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Да, отдельное приложение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15400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Простота внедрения и адаптации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Высокая, за счет готовых модулей и кастомизации под ВУЗ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Средняя, требует высокой квалификации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Высокая, при наличии опыта работы с </a:t>
                      </a:r>
                      <a:r>
                        <a:rPr lang="ru-RU" sz="11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1С</a:t>
                      </a:r>
                      <a:endParaRPr sz="11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1826709"/>
                  </a:ext>
                </a:extLst>
              </a:tr>
            </a:tbl>
          </a:graphicData>
        </a:graphic>
      </p:graphicFrame>
      <p:sp>
        <p:nvSpPr>
          <p:cNvPr id="132" name="Google Shape;132;p3"/>
          <p:cNvSpPr txBox="1"/>
          <p:nvPr/>
        </p:nvSpPr>
        <p:spPr>
          <a:xfrm>
            <a:off x="441570" y="6003011"/>
            <a:ext cx="1098873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/>
              <a:t>Вывод: проведенный сравнительный анализ показывает, что предлагаемое решение на базе </a:t>
            </a:r>
            <a:r>
              <a:rPr lang="ru-RU" sz="1600" dirty="0" err="1"/>
              <a:t>Битрикс24</a:t>
            </a:r>
            <a:r>
              <a:rPr lang="ru-RU" sz="1600" dirty="0"/>
              <a:t> обладает оптимальным балансом функциональности и адаптируемости под нужды высшего учебного заведения.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599133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реализации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5</a:t>
            </a:fld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6A03D6F5-67FB-ADFA-D31C-4F34364BFB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075518"/>
              </p:ext>
            </p:extLst>
          </p:nvPr>
        </p:nvGraphicFramePr>
        <p:xfrm>
          <a:off x="2031735" y="1550453"/>
          <a:ext cx="8126942" cy="431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294">
                  <a:extLst>
                    <a:ext uri="{9D8B030D-6E8A-4147-A177-3AD203B41FA5}">
                      <a16:colId xmlns:a16="http://schemas.microsoft.com/office/drawing/2014/main" val="2920928475"/>
                    </a:ext>
                  </a:extLst>
                </a:gridCol>
                <a:gridCol w="6827648">
                  <a:extLst>
                    <a:ext uri="{9D8B030D-6E8A-4147-A177-3AD203B41FA5}">
                      <a16:colId xmlns:a16="http://schemas.microsoft.com/office/drawing/2014/main" val="4205093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Основные задачи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573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Сбор требований, изучение текущих процессов, согласование ТЗ, начальная инвентаризация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26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Настройка </a:t>
                      </a:r>
                      <a:r>
                        <a:rPr lang="ru-RU" dirty="0" err="1"/>
                        <a:t>Битрикс24</a:t>
                      </a:r>
                      <a:r>
                        <a:rPr lang="ru-RU" dirty="0"/>
                        <a:t>, разработка кастомного </a:t>
                      </a:r>
                      <a:r>
                        <a:rPr lang="en-US" dirty="0"/>
                        <a:t>workflow</a:t>
                      </a:r>
                      <a:r>
                        <a:rPr lang="ru-RU" dirty="0"/>
                        <a:t>, интеграция с </a:t>
                      </a:r>
                      <a:r>
                        <a:rPr lang="ru-RU" dirty="0" err="1"/>
                        <a:t>1С</a:t>
                      </a:r>
                      <a:r>
                        <a:rPr lang="ru-RU" dirty="0"/>
                        <a:t>, разработка </a:t>
                      </a:r>
                      <a:r>
                        <a:rPr lang="en-US" dirty="0"/>
                        <a:t>QR-</a:t>
                      </a:r>
                      <a:r>
                        <a:rPr lang="ru-RU" dirty="0"/>
                        <a:t>системы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026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Тестирование, пилотный запуск в 1-2 подразделениях, обучение пользователей, исправление ошибок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069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Полноценный запуск, подключение всех подразделений, сбор аналитики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8727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80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График реализации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6</a:t>
            </a:fld>
            <a:endParaRPr lang="ru-RU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DE03A020-ADB3-A9C1-721F-A67BCD9D4B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983638"/>
              </p:ext>
            </p:extLst>
          </p:nvPr>
        </p:nvGraphicFramePr>
        <p:xfrm>
          <a:off x="222619" y="1020932"/>
          <a:ext cx="11296171" cy="5331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0516">
                  <a:extLst>
                    <a:ext uri="{9D8B030D-6E8A-4147-A177-3AD203B41FA5}">
                      <a16:colId xmlns:a16="http://schemas.microsoft.com/office/drawing/2014/main" val="1408970574"/>
                    </a:ext>
                  </a:extLst>
                </a:gridCol>
                <a:gridCol w="1968759">
                  <a:extLst>
                    <a:ext uri="{9D8B030D-6E8A-4147-A177-3AD203B41FA5}">
                      <a16:colId xmlns:a16="http://schemas.microsoft.com/office/drawing/2014/main" val="2343964808"/>
                    </a:ext>
                  </a:extLst>
                </a:gridCol>
                <a:gridCol w="2010897">
                  <a:extLst>
                    <a:ext uri="{9D8B030D-6E8A-4147-A177-3AD203B41FA5}">
                      <a16:colId xmlns:a16="http://schemas.microsoft.com/office/drawing/2014/main" val="3137816004"/>
                    </a:ext>
                  </a:extLst>
                </a:gridCol>
                <a:gridCol w="2285999">
                  <a:extLst>
                    <a:ext uri="{9D8B030D-6E8A-4147-A177-3AD203B41FA5}">
                      <a16:colId xmlns:a16="http://schemas.microsoft.com/office/drawing/2014/main" val="2278591434"/>
                    </a:ext>
                  </a:extLst>
                </a:gridCol>
              </a:tblGrid>
              <a:tr h="425313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Этапы проекта/ мероприятия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Срок выполнения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Участники проекта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658469"/>
                  </a:ext>
                </a:extLst>
              </a:tr>
              <a:tr h="973856">
                <a:tc>
                  <a:txBody>
                    <a:bodyPr/>
                    <a:lstStyle/>
                    <a:p>
                      <a:pPr marL="457200" indent="-457200" algn="l">
                        <a:buAutoNum type="arabicPeriod"/>
                      </a:pPr>
                      <a:r>
                        <a:rPr lang="ru-RU" sz="1600" dirty="0"/>
                        <a:t>Анализ и планирование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ru-RU" sz="1600" dirty="0"/>
                        <a:t>1.1. Аудит текущего учета</a:t>
                      </a:r>
                    </a:p>
                    <a:p>
                      <a:pPr marL="0" indent="0" algn="l">
                        <a:buFontTx/>
                        <a:buNone/>
                      </a:pPr>
                      <a:r>
                        <a:rPr lang="ru-RU" sz="1600" dirty="0"/>
                        <a:t>1.2. Согласование архитектуры решения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Месяц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Гурбанович В. А.</a:t>
                      </a:r>
                    </a:p>
                    <a:p>
                      <a:pPr algn="l"/>
                      <a:r>
                        <a:rPr lang="ru-RU" sz="1600" dirty="0" err="1"/>
                        <a:t>Бекошин</a:t>
                      </a:r>
                      <a:r>
                        <a:rPr lang="ru-RU" sz="1600" dirty="0"/>
                        <a:t> Н. 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Согласованное ТЗ, карта процессов, список оборудования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6219071"/>
                  </a:ext>
                </a:extLst>
              </a:tr>
              <a:tr h="473385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2. Разработка и кастомизация системы</a:t>
                      </a:r>
                    </a:p>
                    <a:p>
                      <a:pPr algn="l"/>
                      <a:r>
                        <a:rPr lang="ru-RU" sz="1600" dirty="0"/>
                        <a:t>2.1. Внедрение модуля </a:t>
                      </a:r>
                      <a:r>
                        <a:rPr lang="en-US" sz="1600" dirty="0"/>
                        <a:t>ITSM </a:t>
                      </a:r>
                      <a:r>
                        <a:rPr lang="ru-RU" sz="1600" dirty="0"/>
                        <a:t>и учета активов</a:t>
                      </a:r>
                    </a:p>
                    <a:p>
                      <a:pPr algn="l"/>
                      <a:r>
                        <a:rPr lang="ru-RU" sz="1600" dirty="0"/>
                        <a:t>2.2. Интеграция с </a:t>
                      </a:r>
                      <a:r>
                        <a:rPr lang="ru-RU" sz="1600" dirty="0" err="1"/>
                        <a:t>1С</a:t>
                      </a:r>
                      <a:r>
                        <a:rPr lang="ru-RU" sz="1600" dirty="0"/>
                        <a:t> и внутренними </a:t>
                      </a:r>
                      <a:r>
                        <a:rPr lang="en-US" sz="1600" dirty="0"/>
                        <a:t>API</a:t>
                      </a:r>
                      <a:endParaRPr lang="ru-RU" sz="1600" dirty="0"/>
                    </a:p>
                    <a:p>
                      <a:pPr algn="l"/>
                      <a:r>
                        <a:rPr lang="ru-RU" sz="1600" dirty="0"/>
                        <a:t>2.3. Настройка </a:t>
                      </a:r>
                      <a:r>
                        <a:rPr lang="en-US" sz="1600" dirty="0"/>
                        <a:t>QR</a:t>
                      </a:r>
                      <a:r>
                        <a:rPr lang="ru-RU" sz="1600" dirty="0"/>
                        <a:t>-маркировки</a:t>
                      </a:r>
                    </a:p>
                    <a:p>
                      <a:pPr algn="l"/>
                      <a:r>
                        <a:rPr lang="ru-RU" sz="1600" dirty="0"/>
                        <a:t>2.4. Разработка шаблонов, документов и актов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Месяц 3-6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Гурбанович В. А.</a:t>
                      </a:r>
                    </a:p>
                    <a:p>
                      <a:pPr algn="l"/>
                      <a:r>
                        <a:rPr lang="ru-RU" sz="1600" dirty="0" err="1"/>
                        <a:t>Бекошин</a:t>
                      </a:r>
                      <a:r>
                        <a:rPr lang="ru-RU" sz="1600" dirty="0"/>
                        <a:t> Н. 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Настроенная система </a:t>
                      </a:r>
                      <a:r>
                        <a:rPr lang="ru-RU" sz="1600" dirty="0" err="1"/>
                        <a:t>Битрикс24</a:t>
                      </a:r>
                      <a:r>
                        <a:rPr lang="ru-RU" sz="1600" dirty="0"/>
                        <a:t> с </a:t>
                      </a:r>
                      <a:r>
                        <a:rPr lang="en-US" sz="1600" dirty="0"/>
                        <a:t>workflow </a:t>
                      </a:r>
                      <a:r>
                        <a:rPr lang="ru-RU" sz="1600" dirty="0"/>
                        <a:t>и интеграцией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683013"/>
                  </a:ext>
                </a:extLst>
              </a:tr>
              <a:tr h="473385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3. Пилотное внедрение и обучение</a:t>
                      </a:r>
                    </a:p>
                    <a:p>
                      <a:pPr algn="l"/>
                      <a:r>
                        <a:rPr lang="ru-RU" sz="1600" dirty="0"/>
                        <a:t>3.1. Запуск в </a:t>
                      </a:r>
                      <a:r>
                        <a:rPr lang="en-US" sz="1600" dirty="0"/>
                        <a:t>IT-</a:t>
                      </a:r>
                      <a:r>
                        <a:rPr lang="ru-RU" sz="1600" dirty="0"/>
                        <a:t>отделе и бухгалтерии</a:t>
                      </a:r>
                    </a:p>
                    <a:p>
                      <a:pPr algn="l"/>
                      <a:r>
                        <a:rPr lang="ru-RU" sz="1600" dirty="0"/>
                        <a:t>3.2. Обучение пользователей</a:t>
                      </a:r>
                    </a:p>
                    <a:p>
                      <a:pPr algn="l"/>
                      <a:r>
                        <a:rPr lang="ru-RU" sz="1600" dirty="0"/>
                        <a:t>3.3. Обратная связь, устранение проблем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Месяц 7-8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Гурбанович В. А.</a:t>
                      </a:r>
                    </a:p>
                    <a:p>
                      <a:pPr algn="l"/>
                      <a:r>
                        <a:rPr lang="ru-RU" sz="1600" dirty="0" err="1"/>
                        <a:t>Бекошин</a:t>
                      </a:r>
                      <a:r>
                        <a:rPr lang="ru-RU" sz="1600" dirty="0"/>
                        <a:t> Н. 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Обучено определённое количество пользователей, исправлены ошибки в системе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679916"/>
                  </a:ext>
                </a:extLst>
              </a:tr>
              <a:tr h="473385"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4. Полный запуск</a:t>
                      </a:r>
                    </a:p>
                    <a:p>
                      <a:pPr algn="l"/>
                      <a:r>
                        <a:rPr lang="ru-RU" sz="1600" dirty="0"/>
                        <a:t>4.1. Масштабирование на все подразделения</a:t>
                      </a:r>
                    </a:p>
                    <a:p>
                      <a:pPr algn="l"/>
                      <a:r>
                        <a:rPr lang="ru-RU" sz="1600" dirty="0"/>
                        <a:t>4.2. Подключение </a:t>
                      </a:r>
                      <a:r>
                        <a:rPr lang="en-US" sz="1600" dirty="0"/>
                        <a:t>Power BI</a:t>
                      </a:r>
                      <a:r>
                        <a:rPr lang="ru-RU" sz="1600" dirty="0"/>
                        <a:t>, финальные отчеты</a:t>
                      </a:r>
                    </a:p>
                    <a:p>
                      <a:pPr algn="l"/>
                      <a:r>
                        <a:rPr lang="ru-RU" sz="1600" dirty="0"/>
                        <a:t>4.3 Передача в эксплуатацию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Месяц 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Гурбанович В. А.</a:t>
                      </a:r>
                    </a:p>
                    <a:p>
                      <a:pPr algn="l"/>
                      <a:r>
                        <a:rPr lang="ru-RU" sz="1600" dirty="0" err="1"/>
                        <a:t>Бекошин</a:t>
                      </a:r>
                      <a:r>
                        <a:rPr lang="ru-RU" sz="1600" dirty="0"/>
                        <a:t> Н. В.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dirty="0"/>
                        <a:t>Вся техника в системе, отслеживание 100% активов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78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5941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Риски проекта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7</a:t>
            </a:fld>
            <a:endParaRPr lang="ru-RU"/>
          </a:p>
        </p:txBody>
      </p:sp>
      <p:graphicFrame>
        <p:nvGraphicFramePr>
          <p:cNvPr id="7" name="Google Shape;128;p3"/>
          <p:cNvGraphicFramePr/>
          <p:nvPr>
            <p:extLst>
              <p:ext uri="{D42A27DB-BD31-4B8C-83A1-F6EECF244321}">
                <p14:modId xmlns:p14="http://schemas.microsoft.com/office/powerpoint/2010/main" val="3638514336"/>
              </p:ext>
            </p:extLst>
          </p:nvPr>
        </p:nvGraphicFramePr>
        <p:xfrm>
          <a:off x="1537176" y="1015028"/>
          <a:ext cx="9050925" cy="552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2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2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Ключевые риски проекта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Последствия для проекта от наступления риска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</a:rPr>
                        <a:t>Мероприятия по управлению рисками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Сопротивление сотрудников переходу на цифровой учет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Низкий уровень вовлеченности, саботаж новых процессов, срыв сроков внедрения, возврат к ручному учету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+mn-lt"/>
                        </a:rPr>
                        <a:t>Вовлечение ключевых лиц в тестовую группу, упрощение интерфейса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Ошибки при интеграции с </a:t>
                      </a:r>
                      <a:r>
                        <a:rPr lang="ru-RU" sz="14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1С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Нарушение бухгалтерского учета, потери данных, невозможность автоматического списания, рост недоверия к системе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Привлечение внешнего разработчика </a:t>
                      </a:r>
                      <a:r>
                        <a:rPr lang="ru-RU" sz="14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1С</a:t>
                      </a: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, двойная проверка данных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Некорректная маркировка оборудования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Сбой в учете активов, ошибки в списании, двойной учет, необходимость повторной инвентаризации, недостоверная аналитика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Проведение инвентаризации силами </a:t>
                      </a:r>
                      <a:r>
                        <a:rPr lang="en-US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IT-</a:t>
                      </a: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отдела перед внедрением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Нарушения при утилизации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Юридические последствия, санкции со стороны контролирующих органов, порча репутации ВУЗА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Внедрение этапа проверки службой безопасности в </a:t>
                      </a:r>
                      <a:r>
                        <a:rPr lang="en-US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workflow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8835173"/>
                  </a:ext>
                </a:extLst>
              </a:tr>
              <a:tr h="29899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Нехватка ресурсов на поддержку системы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Задержки в работе системы, рост количества ошибок, снижение доверия пользователей, риск отказа от использования решения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Заключение договора с вендором </a:t>
                      </a:r>
                      <a:r>
                        <a:rPr lang="ru-RU" sz="1400" dirty="0" err="1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Битрикс</a:t>
                      </a:r>
                      <a:r>
                        <a:rPr lang="ru-RU" sz="1400" dirty="0">
                          <a:latin typeface="+mn-lt"/>
                          <a:ea typeface="Calibri"/>
                          <a:cs typeface="Calibri"/>
                          <a:sym typeface="Calibri"/>
                        </a:rPr>
                        <a:t> на сопровождение</a:t>
                      </a:r>
                      <a:endParaRPr sz="1400" dirty="0">
                        <a:latin typeface="+mn-lt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804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8749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Бюджет проекта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609521" y="983009"/>
            <a:ext cx="10971372" cy="225549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Бюджет проекта – это предварительный подсчет всех расходов, которые необходимы для реализации проекта. Для определения категорий и статей расхода можно опираться на план реализации проекта, а именно на мероприятия указанные в нем.</a:t>
            </a:r>
          </a:p>
          <a:p>
            <a:endParaRPr lang="ru-RU" dirty="0"/>
          </a:p>
          <a:p>
            <a:r>
              <a:rPr lang="ru-RU" dirty="0"/>
              <a:t>Перечислите основные статьи затрат по проекту и определите их стоимость.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8</a:t>
            </a:fld>
            <a:endParaRPr lang="ru-RU"/>
          </a:p>
        </p:txBody>
      </p:sp>
      <p:graphicFrame>
        <p:nvGraphicFramePr>
          <p:cNvPr id="7" name="Google Shape;131;p3"/>
          <p:cNvGraphicFramePr/>
          <p:nvPr>
            <p:extLst>
              <p:ext uri="{D42A27DB-BD31-4B8C-83A1-F6EECF244321}">
                <p14:modId xmlns:p14="http://schemas.microsoft.com/office/powerpoint/2010/main" val="1768081598"/>
              </p:ext>
            </p:extLst>
          </p:nvPr>
        </p:nvGraphicFramePr>
        <p:xfrm>
          <a:off x="1244560" y="3238500"/>
          <a:ext cx="9394865" cy="342175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1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7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9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54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44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173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0002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Arial"/>
                        </a:rPr>
                        <a:t>№</a:t>
                      </a:r>
                      <a:endParaRPr sz="12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Категория расходов </a:t>
                      </a:r>
                      <a:endParaRPr sz="1200" kern="12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Статья расхода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Стоимость (ед.), руб.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Количество единиц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Всего, руб.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Всего для оплаты из источника финансирования, руб.</a:t>
                      </a:r>
                    </a:p>
                  </a:txBody>
                  <a:tcPr marL="51438" marR="5143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defTabSz="1172261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Источник финансирования</a:t>
                      </a:r>
                    </a:p>
                  </a:txBody>
                  <a:tcPr marL="51438" marR="51438" marT="0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Материальные расходы: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491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595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Закупаемые услуги/ трудозатраты: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63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….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303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297"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3.1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297">
                <a:tc gridSpan="5"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Итого (общий)</a:t>
                      </a: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1pPr>
                      <a:lvl2pPr marL="586130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2pPr>
                      <a:lvl3pPr marL="117226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3pPr>
                      <a:lvl4pPr marL="1758391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4pPr>
                      <a:lvl5pPr marL="234452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5pPr>
                      <a:lvl6pPr marL="293065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6pPr>
                      <a:lvl7pPr marL="3516782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7pPr>
                      <a:lvl8pPr marL="410291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8pPr>
                      <a:lvl9pPr marL="4689043" algn="l" defTabSz="1172261" rtl="0" eaLnBrk="1" latinLnBrk="0" hangingPunct="1">
                        <a:defRPr sz="2300" kern="1200">
                          <a:solidFill>
                            <a:schemeClr val="tx1"/>
                          </a:solidFill>
                          <a:latin typeface="Calibri Light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38" marR="5143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914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C55D1-92A9-4B02-AD60-DEC4B6659F3A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Название команды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14818" y="4460813"/>
            <a:ext cx="24919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/>
              <a:t>Бекошин</a:t>
            </a:r>
            <a:r>
              <a:rPr lang="ru-RU" sz="1600" dirty="0"/>
              <a:t> Никита Вячеславович, роль в команде: лидер, мыслитель, исследователь, специалист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7183" y="4460813"/>
            <a:ext cx="42325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Гурбанович Вероника Андреевна, роль в команде: исполнитель, доводчик</a:t>
            </a:r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6" b="14236"/>
          <a:stretch/>
        </p:blipFill>
        <p:spPr>
          <a:xfrm>
            <a:off x="7733661" y="1566444"/>
            <a:ext cx="2539635" cy="2539635"/>
          </a:xfrm>
          <a:prstGeom prst="ellipse">
            <a:avLst/>
          </a:prstGeom>
        </p:spPr>
      </p:pic>
      <p:pic>
        <p:nvPicPr>
          <p:cNvPr id="42" name="Рисунок 4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41"/>
          <a:stretch/>
        </p:blipFill>
        <p:spPr>
          <a:xfrm>
            <a:off x="1767527" y="2812695"/>
            <a:ext cx="1189708" cy="1234198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38262576"/>
      </p:ext>
    </p:extLst>
  </p:cSld>
  <p:clrMapOvr>
    <a:masterClrMapping/>
  </p:clrMapOvr>
</p:sld>
</file>

<file path=ppt/theme/theme1.xml><?xml version="1.0" encoding="utf-8"?>
<a:theme xmlns:a="http://schemas.openxmlformats.org/drawingml/2006/main" name="Презентация">
  <a:themeElements>
    <a:clrScheme name="ЧГУ">
      <a:dk1>
        <a:srgbClr val="000000"/>
      </a:dk1>
      <a:lt1>
        <a:srgbClr val="FFFFFF"/>
      </a:lt1>
      <a:dk2>
        <a:srgbClr val="121314"/>
      </a:dk2>
      <a:lt2>
        <a:srgbClr val="F5F3F4"/>
      </a:lt2>
      <a:accent1>
        <a:srgbClr val="DA251D"/>
      </a:accent1>
      <a:accent2>
        <a:srgbClr val="A50E13"/>
      </a:accent2>
      <a:accent3>
        <a:srgbClr val="660102"/>
      </a:accent3>
      <a:accent4>
        <a:srgbClr val="E63538"/>
      </a:accent4>
      <a:accent5>
        <a:srgbClr val="B2A8A7"/>
      </a:accent5>
      <a:accent6>
        <a:srgbClr val="D4D4D4"/>
      </a:accent6>
      <a:hlink>
        <a:srgbClr val="DA251D"/>
      </a:hlink>
      <a:folHlink>
        <a:srgbClr val="B2A8A7"/>
      </a:folHlink>
    </a:clrScheme>
    <a:fontScheme name="ЧГУ">
      <a:majorFont>
        <a:latin typeface="Calibri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E22DBAA86A9614581330F37B8ACA6FA" ma:contentTypeVersion="3" ma:contentTypeDescription="Создание документа." ma:contentTypeScope="" ma:versionID="7bf3ee936cf4523892c4132311e72b57">
  <xsd:schema xmlns:xsd="http://www.w3.org/2001/XMLSchema" xmlns:xs="http://www.w3.org/2001/XMLSchema" xmlns:p="http://schemas.microsoft.com/office/2006/metadata/properties" xmlns:ns2="daefc6dc-6441-4f73-966d-00743e69727d" targetNamespace="http://schemas.microsoft.com/office/2006/metadata/properties" ma:root="true" ma:fieldsID="0ab6a38b729555d581ebccfca6bd0793" ns2:_="">
    <xsd:import namespace="daefc6dc-6441-4f73-966d-00743e6972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fc6dc-6441-4f73-966d-00743e6972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FF956B4-350F-4D5D-BF8C-9C48401259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efc6dc-6441-4f73-966d-00743e6972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B8064B-6AEE-45B6-92F7-27122D5215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D8D69A-65EA-4ADD-8CB5-FD805E00AE98}">
  <ds:schemaRefs>
    <ds:schemaRef ds:uri="http://schemas.microsoft.com/office/2006/metadata/properties"/>
    <ds:schemaRef ds:uri="http://schemas.microsoft.com/office/infopath/2007/PartnerControls"/>
    <ds:schemaRef ds:uri="2b9d9955-93fb-4bd4-bcdb-8e7ddc259c20"/>
    <ds:schemaRef ds:uri="4c612441-9502-4d03-96ef-459065c861a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2935</TotalTime>
  <Words>1112</Words>
  <Application>Microsoft Office PowerPoint</Application>
  <PresentationFormat>Произвольный</PresentationFormat>
  <Paragraphs>174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Arial</vt:lpstr>
      <vt:lpstr>Calibri</vt:lpstr>
      <vt:lpstr>Презентация</vt:lpstr>
      <vt:lpstr>«IT-инвентаризация ЧГУ – автоматизированная система управления списанием технического оборудования на базе Битрикс»</vt:lpstr>
      <vt:lpstr>Проблемная ситуация</vt:lpstr>
      <vt:lpstr>Карточка проекта «IT-инвентаризация ЧГУ»</vt:lpstr>
      <vt:lpstr>Обзор существующих решений</vt:lpstr>
      <vt:lpstr>График реализации проекта</vt:lpstr>
      <vt:lpstr>График реализации проекта</vt:lpstr>
      <vt:lpstr>Риски проекта</vt:lpstr>
      <vt:lpstr>Бюджет проекта</vt:lpstr>
      <vt:lpstr>Название команды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и достижения кафедры химических технологий  1972-2022 гг.</dc:title>
  <dc:creator>Anastasia</dc:creator>
  <cp:lastModifiedBy>Вероника Гурбанович</cp:lastModifiedBy>
  <cp:revision>305</cp:revision>
  <dcterms:created xsi:type="dcterms:W3CDTF">2022-04-04T12:37:27Z</dcterms:created>
  <dcterms:modified xsi:type="dcterms:W3CDTF">2025-04-07T20:06:17Z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0x010100DE22DBAA86A9614581330F37B8ACA6FA</vt:lpwstr>
  </property>
  <property fmtid="{D5CDD505-2E9C-101B-9397-08002B2CF9AE}" pid="3" name="MediaServiceImageTags">
    <vt:lpwstr/>
  </property>
</Properties>
</file>