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notesSlides/notesSlide11.xml" ContentType="application/vnd.openxmlformats-officedocument.presentationml.notesSlide+xml"/>
  <Override PartName="/ppt/notesSlides/_rels/notes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0413" cy="6859588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7D0843-ACD4-4E11-903B-A230E703E125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175F2E4-0828-4E3A-A19B-5093CED1F645}">
      <dgm:prSet phldr="0"/>
      <dgm:spPr>
        <a:solidFill>
          <a:srgbClr val="DA251D"/>
        </a:solidFill>
      </dgm:spPr>
      <dgm:t>
        <a:bodyPr/>
        <a:lstStyle/>
        <a:p>
          <a:pPr rtl="0"/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2. Основной этап</a:t>
          </a:r>
        </a:p>
        <a:p>
          <a:pPr rtl="0"/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(</a:t>
          </a: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0</a:t>
          </a:r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1.</a:t>
          </a: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11</a:t>
          </a:r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.2024-31.</a:t>
          </a: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0</a:t>
          </a:r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8.202</a:t>
          </a: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5</a:t>
          </a:r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)</a:t>
          </a:r>
        </a:p>
      </dgm:t>
    </dgm:pt>
    <dgm:pt modelId="{84A37811-F6A1-45F5-A39A-468E45089CF5}" type="parTrans" cxnId="{6B0468EF-14E4-45F3-A63A-13D414A57343}">
      <dgm:prSet/>
      <dgm:spPr/>
      <dgm:t>
        <a:bodyPr/>
        <a:lstStyle/>
        <a:p>
          <a:endParaRPr lang="ru-RU"/>
        </a:p>
      </dgm:t>
    </dgm:pt>
    <dgm:pt modelId="{811842CF-F9A5-4E2F-A645-C96A9ACAE873}" type="sibTrans" cxnId="{6B0468EF-14E4-45F3-A63A-13D414A57343}">
      <dgm:prSet/>
      <dgm:spPr/>
      <dgm:t>
        <a:bodyPr/>
        <a:lstStyle/>
        <a:p>
          <a:endParaRPr lang="ru-RU"/>
        </a:p>
      </dgm:t>
    </dgm:pt>
    <dgm:pt modelId="{E5891545-0510-4941-84B0-BE2AAA928892}">
      <dgm:prSet phldr="0"/>
      <dgm:spPr>
        <a:solidFill>
          <a:srgbClr val="DA251D"/>
        </a:solidFill>
      </dgm:spPr>
      <dgm:t>
        <a:bodyPr/>
        <a:lstStyle/>
        <a:p>
          <a:pPr rtl="0"/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1. Подготовительный этап</a:t>
          </a:r>
        </a:p>
        <a:p>
          <a:pPr rtl="0"/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(01.04.2024-31.</a:t>
          </a:r>
          <a:r>
            <a:rPr lang="en-US" dirty="0">
              <a:solidFill>
                <a:schemeClr val="bg1"/>
              </a:solidFill>
              <a:latin typeface="Times New Roman"/>
              <a:cs typeface="Times New Roman"/>
            </a:rPr>
            <a:t>1</a:t>
          </a:r>
          <a:r>
            <a:rPr lang="ru-RU" dirty="0">
              <a:solidFill>
                <a:schemeClr val="bg1"/>
              </a:solidFill>
              <a:latin typeface="Times New Roman"/>
              <a:cs typeface="Times New Roman"/>
            </a:rPr>
            <a:t>0.2024)</a:t>
          </a:r>
        </a:p>
      </dgm:t>
    </dgm:pt>
    <dgm:pt modelId="{49232B08-34A6-468D-9AB4-35FD0B1BDED1}" type="parTrans" cxnId="{F9D80306-E117-46E5-A5A2-9AE73AABADA3}">
      <dgm:prSet/>
      <dgm:spPr/>
      <dgm:t>
        <a:bodyPr/>
        <a:lstStyle/>
        <a:p>
          <a:endParaRPr lang="ru-RU"/>
        </a:p>
      </dgm:t>
    </dgm:pt>
    <dgm:pt modelId="{83371FC3-181A-42A9-AAE0-36056F110970}" type="sibTrans" cxnId="{F9D80306-E117-46E5-A5A2-9AE73AABADA3}">
      <dgm:prSet/>
      <dgm:spPr/>
      <dgm:t>
        <a:bodyPr/>
        <a:lstStyle/>
        <a:p>
          <a:endParaRPr lang="ru-RU"/>
        </a:p>
      </dgm:t>
    </dgm:pt>
    <dgm:pt modelId="{FB33BAB0-4D4F-4777-B167-CF57C4CF226F}">
      <dgm:prSet phldr="0"/>
      <dgm:spPr>
        <a:solidFill>
          <a:srgbClr val="DA251D"/>
        </a:solidFill>
      </dgm:spPr>
      <dgm:t>
        <a:bodyPr/>
        <a:lstStyle/>
        <a:p>
          <a:pPr rtl="0"/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Тестирование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0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09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.202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-19.12.202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ru-RU" dirty="0">
            <a:solidFill>
              <a:schemeClr val="bg1"/>
            </a:solidFill>
            <a:latin typeface="Times New Roman" panose="02020603050405020304" pitchFamily="18" charset="0"/>
            <a:ea typeface="Calibri"/>
            <a:cs typeface="Times New Roman" panose="02020603050405020304" pitchFamily="18" charset="0"/>
          </a:endParaRPr>
        </a:p>
      </dgm:t>
    </dgm:pt>
    <dgm:pt modelId="{F1E2EE3B-0F38-40DC-A726-9FC6B1951778}" type="parTrans" cxnId="{63FE00EF-D0F3-4B37-91A0-7E9799A3BF5F}">
      <dgm:prSet/>
      <dgm:spPr/>
      <dgm:t>
        <a:bodyPr/>
        <a:lstStyle/>
        <a:p>
          <a:endParaRPr lang="ru-RU"/>
        </a:p>
      </dgm:t>
    </dgm:pt>
    <dgm:pt modelId="{9E35B78B-DD84-458A-B424-0F1E84138393}" type="sibTrans" cxnId="{63FE00EF-D0F3-4B37-91A0-7E9799A3BF5F}">
      <dgm:prSet/>
      <dgm:spPr/>
      <dgm:t>
        <a:bodyPr/>
        <a:lstStyle/>
        <a:p>
          <a:endParaRPr lang="ru-RU"/>
        </a:p>
      </dgm:t>
    </dgm:pt>
    <dgm:pt modelId="{2E76A092-73CA-4233-8621-34C28D046F7B}">
      <dgm:prSet phldr="0"/>
      <dgm:spPr>
        <a:solidFill>
          <a:srgbClr val="DA251D"/>
        </a:solidFill>
      </dgm:spPr>
      <dgm:t>
        <a:bodyPr/>
        <a:lstStyle/>
        <a:p>
          <a:pPr rtl="0"/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Финальный этап</a:t>
          </a:r>
        </a:p>
        <a:p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(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20.12.202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)</a:t>
          </a:r>
        </a:p>
      </dgm:t>
    </dgm:pt>
    <dgm:pt modelId="{448CD1C3-D86D-4A3C-9F08-FAFB79534F72}" type="parTrans" cxnId="{F1CB8C56-D864-4FAE-8E80-7E54B27C3861}">
      <dgm:prSet/>
      <dgm:spPr/>
      <dgm:t>
        <a:bodyPr/>
        <a:lstStyle/>
        <a:p>
          <a:endParaRPr lang="ru-RU"/>
        </a:p>
      </dgm:t>
    </dgm:pt>
    <dgm:pt modelId="{79EB1562-5CA3-4F52-B370-2DDC24389B71}" type="sibTrans" cxnId="{F1CB8C56-D864-4FAE-8E80-7E54B27C3861}">
      <dgm:prSet/>
      <dgm:spPr/>
      <dgm:t>
        <a:bodyPr/>
        <a:lstStyle/>
        <a:p>
          <a:endParaRPr lang="ru-RU"/>
        </a:p>
      </dgm:t>
    </dgm:pt>
    <dgm:pt modelId="{E150E8C5-17F5-48BD-A3FE-F275B3BA0867}" type="pres">
      <dgm:prSet presAssocID="{997D0843-ACD4-4E11-903B-A230E703E125}" presName="diagram" presStyleCnt="0">
        <dgm:presLayoutVars>
          <dgm:dir/>
          <dgm:resizeHandles val="exact"/>
        </dgm:presLayoutVars>
      </dgm:prSet>
      <dgm:spPr/>
    </dgm:pt>
    <dgm:pt modelId="{F05F440B-6E83-42B4-8F94-9C602B8DDC52}" type="pres">
      <dgm:prSet presAssocID="{E5891545-0510-4941-84B0-BE2AAA928892}" presName="node" presStyleLbl="node1" presStyleIdx="0" presStyleCnt="4">
        <dgm:presLayoutVars>
          <dgm:bulletEnabled val="1"/>
        </dgm:presLayoutVars>
      </dgm:prSet>
      <dgm:spPr/>
    </dgm:pt>
    <dgm:pt modelId="{98896926-EFE8-4C0D-8355-9625A9829B1B}" type="pres">
      <dgm:prSet presAssocID="{83371FC3-181A-42A9-AAE0-36056F110970}" presName="sibTrans" presStyleLbl="sibTrans2D1" presStyleIdx="0" presStyleCnt="3"/>
      <dgm:spPr/>
    </dgm:pt>
    <dgm:pt modelId="{A998D10E-D269-4DBC-BAD6-D7A09A0411D5}" type="pres">
      <dgm:prSet presAssocID="{83371FC3-181A-42A9-AAE0-36056F110970}" presName="connectorText" presStyleLbl="sibTrans2D1" presStyleIdx="0" presStyleCnt="3"/>
      <dgm:spPr/>
    </dgm:pt>
    <dgm:pt modelId="{53F968C0-5AF0-4EC1-A14F-720A10BD979F}" type="pres">
      <dgm:prSet presAssocID="{F175F2E4-0828-4E3A-A19B-5093CED1F645}" presName="node" presStyleLbl="node1" presStyleIdx="1" presStyleCnt="4">
        <dgm:presLayoutVars>
          <dgm:bulletEnabled val="1"/>
        </dgm:presLayoutVars>
      </dgm:prSet>
      <dgm:spPr/>
    </dgm:pt>
    <dgm:pt modelId="{5E3CB74A-CDCA-4E35-BD69-1962085A86DF}" type="pres">
      <dgm:prSet presAssocID="{811842CF-F9A5-4E2F-A645-C96A9ACAE873}" presName="sibTrans" presStyleLbl="sibTrans2D1" presStyleIdx="1" presStyleCnt="3"/>
      <dgm:spPr/>
    </dgm:pt>
    <dgm:pt modelId="{F166CCDD-C494-4116-8B3F-204A08EAC578}" type="pres">
      <dgm:prSet presAssocID="{811842CF-F9A5-4E2F-A645-C96A9ACAE873}" presName="connectorText" presStyleLbl="sibTrans2D1" presStyleIdx="1" presStyleCnt="3"/>
      <dgm:spPr/>
    </dgm:pt>
    <dgm:pt modelId="{53429899-4CBB-4BB8-A1AD-1914CB631CDF}" type="pres">
      <dgm:prSet presAssocID="{FB33BAB0-4D4F-4777-B167-CF57C4CF226F}" presName="node" presStyleLbl="node1" presStyleIdx="2" presStyleCnt="4">
        <dgm:presLayoutVars>
          <dgm:bulletEnabled val="1"/>
        </dgm:presLayoutVars>
      </dgm:prSet>
      <dgm:spPr/>
    </dgm:pt>
    <dgm:pt modelId="{F81E5C07-C952-40CF-BE3A-ECC336569DE8}" type="pres">
      <dgm:prSet presAssocID="{9E35B78B-DD84-458A-B424-0F1E84138393}" presName="sibTrans" presStyleLbl="sibTrans2D1" presStyleIdx="2" presStyleCnt="3"/>
      <dgm:spPr/>
    </dgm:pt>
    <dgm:pt modelId="{E95191D4-D167-4A86-8F0E-D3230CBCCFED}" type="pres">
      <dgm:prSet presAssocID="{9E35B78B-DD84-458A-B424-0F1E84138393}" presName="connectorText" presStyleLbl="sibTrans2D1" presStyleIdx="2" presStyleCnt="3"/>
      <dgm:spPr/>
    </dgm:pt>
    <dgm:pt modelId="{5C359839-130B-4746-A752-05EC29026A34}" type="pres">
      <dgm:prSet presAssocID="{2E76A092-73CA-4233-8621-34C28D046F7B}" presName="node" presStyleLbl="node1" presStyleIdx="3" presStyleCnt="4">
        <dgm:presLayoutVars>
          <dgm:bulletEnabled val="1"/>
        </dgm:presLayoutVars>
      </dgm:prSet>
      <dgm:spPr/>
    </dgm:pt>
  </dgm:ptLst>
  <dgm:cxnLst>
    <dgm:cxn modelId="{F9D80306-E117-46E5-A5A2-9AE73AABADA3}" srcId="{997D0843-ACD4-4E11-903B-A230E703E125}" destId="{E5891545-0510-4941-84B0-BE2AAA928892}" srcOrd="0" destOrd="0" parTransId="{49232B08-34A6-468D-9AB4-35FD0B1BDED1}" sibTransId="{83371FC3-181A-42A9-AAE0-36056F110970}"/>
    <dgm:cxn modelId="{8271A61E-342F-43E8-A752-848EBD777A93}" type="presOf" srcId="{83371FC3-181A-42A9-AAE0-36056F110970}" destId="{A998D10E-D269-4DBC-BAD6-D7A09A0411D5}" srcOrd="1" destOrd="0" presId="urn:microsoft.com/office/officeart/2005/8/layout/process5"/>
    <dgm:cxn modelId="{F202F623-92FA-4778-B2D1-80E9BA00C057}" type="presOf" srcId="{2E76A092-73CA-4233-8621-34C28D046F7B}" destId="{5C359839-130B-4746-A752-05EC29026A34}" srcOrd="0" destOrd="0" presId="urn:microsoft.com/office/officeart/2005/8/layout/process5"/>
    <dgm:cxn modelId="{B7AEFA31-23C2-4FF5-9277-290CF988F0AA}" type="presOf" srcId="{83371FC3-181A-42A9-AAE0-36056F110970}" destId="{98896926-EFE8-4C0D-8355-9625A9829B1B}" srcOrd="0" destOrd="0" presId="urn:microsoft.com/office/officeart/2005/8/layout/process5"/>
    <dgm:cxn modelId="{1789803C-D9AA-414F-93B6-F21F1D40A310}" type="presOf" srcId="{E5891545-0510-4941-84B0-BE2AAA928892}" destId="{F05F440B-6E83-42B4-8F94-9C602B8DDC52}" srcOrd="0" destOrd="0" presId="urn:microsoft.com/office/officeart/2005/8/layout/process5"/>
    <dgm:cxn modelId="{5DE43448-29A2-406A-AC6D-6664639BDE02}" type="presOf" srcId="{9E35B78B-DD84-458A-B424-0F1E84138393}" destId="{F81E5C07-C952-40CF-BE3A-ECC336569DE8}" srcOrd="0" destOrd="0" presId="urn:microsoft.com/office/officeart/2005/8/layout/process5"/>
    <dgm:cxn modelId="{59F14568-3BEF-4F10-A2CF-3EC8008A5ACC}" type="presOf" srcId="{9E35B78B-DD84-458A-B424-0F1E84138393}" destId="{E95191D4-D167-4A86-8F0E-D3230CBCCFED}" srcOrd="1" destOrd="0" presId="urn:microsoft.com/office/officeart/2005/8/layout/process5"/>
    <dgm:cxn modelId="{84D63D52-07A8-4336-9E65-D9055B601962}" type="presOf" srcId="{FB33BAB0-4D4F-4777-B167-CF57C4CF226F}" destId="{53429899-4CBB-4BB8-A1AD-1914CB631CDF}" srcOrd="0" destOrd="0" presId="urn:microsoft.com/office/officeart/2005/8/layout/process5"/>
    <dgm:cxn modelId="{F1CB8C56-D864-4FAE-8E80-7E54B27C3861}" srcId="{997D0843-ACD4-4E11-903B-A230E703E125}" destId="{2E76A092-73CA-4233-8621-34C28D046F7B}" srcOrd="3" destOrd="0" parTransId="{448CD1C3-D86D-4A3C-9F08-FAFB79534F72}" sibTransId="{79EB1562-5CA3-4F52-B370-2DDC24389B71}"/>
    <dgm:cxn modelId="{3E63FE79-71B9-4484-AA2E-D394DE4FE457}" type="presOf" srcId="{811842CF-F9A5-4E2F-A645-C96A9ACAE873}" destId="{5E3CB74A-CDCA-4E35-BD69-1962085A86DF}" srcOrd="0" destOrd="0" presId="urn:microsoft.com/office/officeart/2005/8/layout/process5"/>
    <dgm:cxn modelId="{ED09C87B-E52D-4196-B1EC-FB1244BD3BAB}" type="presOf" srcId="{F175F2E4-0828-4E3A-A19B-5093CED1F645}" destId="{53F968C0-5AF0-4EC1-A14F-720A10BD979F}" srcOrd="0" destOrd="0" presId="urn:microsoft.com/office/officeart/2005/8/layout/process5"/>
    <dgm:cxn modelId="{F0ECD3A7-2396-4654-BC0B-38E9906CE291}" type="presOf" srcId="{997D0843-ACD4-4E11-903B-A230E703E125}" destId="{E150E8C5-17F5-48BD-A3FE-F275B3BA0867}" srcOrd="0" destOrd="0" presId="urn:microsoft.com/office/officeart/2005/8/layout/process5"/>
    <dgm:cxn modelId="{CD4223E7-A8C4-4C96-9CED-101F7F19DECA}" type="presOf" srcId="{811842CF-F9A5-4E2F-A645-C96A9ACAE873}" destId="{F166CCDD-C494-4116-8B3F-204A08EAC578}" srcOrd="1" destOrd="0" presId="urn:microsoft.com/office/officeart/2005/8/layout/process5"/>
    <dgm:cxn modelId="{63FE00EF-D0F3-4B37-91A0-7E9799A3BF5F}" srcId="{997D0843-ACD4-4E11-903B-A230E703E125}" destId="{FB33BAB0-4D4F-4777-B167-CF57C4CF226F}" srcOrd="2" destOrd="0" parTransId="{F1E2EE3B-0F38-40DC-A726-9FC6B1951778}" sibTransId="{9E35B78B-DD84-458A-B424-0F1E84138393}"/>
    <dgm:cxn modelId="{6B0468EF-14E4-45F3-A63A-13D414A57343}" srcId="{997D0843-ACD4-4E11-903B-A230E703E125}" destId="{F175F2E4-0828-4E3A-A19B-5093CED1F645}" srcOrd="1" destOrd="0" parTransId="{84A37811-F6A1-45F5-A39A-468E45089CF5}" sibTransId="{811842CF-F9A5-4E2F-A645-C96A9ACAE873}"/>
    <dgm:cxn modelId="{DCD520BD-0168-4908-AD57-E73709E1B3F7}" type="presParOf" srcId="{E150E8C5-17F5-48BD-A3FE-F275B3BA0867}" destId="{F05F440B-6E83-42B4-8F94-9C602B8DDC52}" srcOrd="0" destOrd="0" presId="urn:microsoft.com/office/officeart/2005/8/layout/process5"/>
    <dgm:cxn modelId="{29604623-9DEF-48E9-BE1F-6AD73832BE73}" type="presParOf" srcId="{E150E8C5-17F5-48BD-A3FE-F275B3BA0867}" destId="{98896926-EFE8-4C0D-8355-9625A9829B1B}" srcOrd="1" destOrd="0" presId="urn:microsoft.com/office/officeart/2005/8/layout/process5"/>
    <dgm:cxn modelId="{1525A73D-DED0-4521-A905-447C373F2978}" type="presParOf" srcId="{98896926-EFE8-4C0D-8355-9625A9829B1B}" destId="{A998D10E-D269-4DBC-BAD6-D7A09A0411D5}" srcOrd="0" destOrd="0" presId="urn:microsoft.com/office/officeart/2005/8/layout/process5"/>
    <dgm:cxn modelId="{5F30AE32-6415-4355-8D35-50267FC6B4BD}" type="presParOf" srcId="{E150E8C5-17F5-48BD-A3FE-F275B3BA0867}" destId="{53F968C0-5AF0-4EC1-A14F-720A10BD979F}" srcOrd="2" destOrd="0" presId="urn:microsoft.com/office/officeart/2005/8/layout/process5"/>
    <dgm:cxn modelId="{90DBDF3B-1A67-4933-B862-FAA3A25D94F9}" type="presParOf" srcId="{E150E8C5-17F5-48BD-A3FE-F275B3BA0867}" destId="{5E3CB74A-CDCA-4E35-BD69-1962085A86DF}" srcOrd="3" destOrd="0" presId="urn:microsoft.com/office/officeart/2005/8/layout/process5"/>
    <dgm:cxn modelId="{7AE8E344-B087-4202-B9C8-F23EEC3B45D3}" type="presParOf" srcId="{5E3CB74A-CDCA-4E35-BD69-1962085A86DF}" destId="{F166CCDD-C494-4116-8B3F-204A08EAC578}" srcOrd="0" destOrd="0" presId="urn:microsoft.com/office/officeart/2005/8/layout/process5"/>
    <dgm:cxn modelId="{BE07A44A-E896-4065-A800-757C084AB46B}" type="presParOf" srcId="{E150E8C5-17F5-48BD-A3FE-F275B3BA0867}" destId="{53429899-4CBB-4BB8-A1AD-1914CB631CDF}" srcOrd="4" destOrd="0" presId="urn:microsoft.com/office/officeart/2005/8/layout/process5"/>
    <dgm:cxn modelId="{607B5F4B-3AFB-444C-9493-95009D3953E4}" type="presParOf" srcId="{E150E8C5-17F5-48BD-A3FE-F275B3BA0867}" destId="{F81E5C07-C952-40CF-BE3A-ECC336569DE8}" srcOrd="5" destOrd="0" presId="urn:microsoft.com/office/officeart/2005/8/layout/process5"/>
    <dgm:cxn modelId="{4C12B8E2-D7F1-4A5A-AA3A-64C600EA62A7}" type="presParOf" srcId="{F81E5C07-C952-40CF-BE3A-ECC336569DE8}" destId="{E95191D4-D167-4A86-8F0E-D3230CBCCFED}" srcOrd="0" destOrd="0" presId="urn:microsoft.com/office/officeart/2005/8/layout/process5"/>
    <dgm:cxn modelId="{D7090650-DF36-4D0C-B12B-1EF3D3AD064B}" type="presParOf" srcId="{E150E8C5-17F5-48BD-A3FE-F275B3BA0867}" destId="{5C359839-130B-4746-A752-05EC29026A34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F440B-6E83-42B4-8F94-9C602B8DDC52}">
      <dsp:nvSpPr>
        <dsp:cNvPr id="0" name=""/>
        <dsp:cNvSpPr/>
      </dsp:nvSpPr>
      <dsp:spPr>
        <a:xfrm>
          <a:off x="836332" y="3871"/>
          <a:ext cx="3452302" cy="2071381"/>
        </a:xfrm>
        <a:prstGeom prst="roundRect">
          <a:avLst>
            <a:gd name="adj" fmla="val 10000"/>
          </a:avLst>
        </a:prstGeom>
        <a:solidFill>
          <a:srgbClr val="DA251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1. Подготовительный этап</a:t>
          </a:r>
        </a:p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(01.04.2024-31.</a:t>
          </a:r>
          <a:r>
            <a:rPr lang="en-US" sz="2700" kern="1200" dirty="0">
              <a:solidFill>
                <a:schemeClr val="bg1"/>
              </a:solidFill>
              <a:latin typeface="Times New Roman"/>
              <a:cs typeface="Times New Roman"/>
            </a:rPr>
            <a:t>1</a:t>
          </a: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0.2024)</a:t>
          </a:r>
        </a:p>
      </dsp:txBody>
      <dsp:txXfrm>
        <a:off x="897001" y="64540"/>
        <a:ext cx="3330964" cy="1950043"/>
      </dsp:txXfrm>
    </dsp:sp>
    <dsp:sp modelId="{98896926-EFE8-4C0D-8355-9625A9829B1B}">
      <dsp:nvSpPr>
        <dsp:cNvPr id="0" name=""/>
        <dsp:cNvSpPr/>
      </dsp:nvSpPr>
      <dsp:spPr>
        <a:xfrm>
          <a:off x="4592438" y="611476"/>
          <a:ext cx="731888" cy="8561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100" kern="1200"/>
        </a:p>
      </dsp:txBody>
      <dsp:txXfrm>
        <a:off x="4592438" y="782710"/>
        <a:ext cx="512322" cy="513703"/>
      </dsp:txXfrm>
    </dsp:sp>
    <dsp:sp modelId="{53F968C0-5AF0-4EC1-A14F-720A10BD979F}">
      <dsp:nvSpPr>
        <dsp:cNvPr id="0" name=""/>
        <dsp:cNvSpPr/>
      </dsp:nvSpPr>
      <dsp:spPr>
        <a:xfrm>
          <a:off x="5669556" y="3871"/>
          <a:ext cx="3452302" cy="2071381"/>
        </a:xfrm>
        <a:prstGeom prst="roundRect">
          <a:avLst>
            <a:gd name="adj" fmla="val 10000"/>
          </a:avLst>
        </a:prstGeom>
        <a:solidFill>
          <a:srgbClr val="DA251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2. Основной этап</a:t>
          </a:r>
        </a:p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(</a:t>
          </a:r>
          <a:r>
            <a:rPr lang="en-US" sz="2700" kern="1200" dirty="0">
              <a:solidFill>
                <a:schemeClr val="bg1"/>
              </a:solidFill>
              <a:latin typeface="Times New Roman"/>
              <a:cs typeface="Times New Roman"/>
            </a:rPr>
            <a:t>0</a:t>
          </a: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1.</a:t>
          </a:r>
          <a:r>
            <a:rPr lang="en-US" sz="2700" kern="1200" dirty="0">
              <a:solidFill>
                <a:schemeClr val="bg1"/>
              </a:solidFill>
              <a:latin typeface="Times New Roman"/>
              <a:cs typeface="Times New Roman"/>
            </a:rPr>
            <a:t>11</a:t>
          </a: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.2024-31.</a:t>
          </a:r>
          <a:r>
            <a:rPr lang="en-US" sz="2700" kern="1200" dirty="0">
              <a:solidFill>
                <a:schemeClr val="bg1"/>
              </a:solidFill>
              <a:latin typeface="Times New Roman"/>
              <a:cs typeface="Times New Roman"/>
            </a:rPr>
            <a:t>0</a:t>
          </a: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8.202</a:t>
          </a:r>
          <a:r>
            <a:rPr lang="en-US" sz="2700" kern="1200" dirty="0">
              <a:solidFill>
                <a:schemeClr val="bg1"/>
              </a:solidFill>
              <a:latin typeface="Times New Roman"/>
              <a:cs typeface="Times New Roman"/>
            </a:rPr>
            <a:t>5</a:t>
          </a:r>
          <a:r>
            <a:rPr lang="ru-RU" sz="2700" kern="1200" dirty="0">
              <a:solidFill>
                <a:schemeClr val="bg1"/>
              </a:solidFill>
              <a:latin typeface="Times New Roman"/>
              <a:cs typeface="Times New Roman"/>
            </a:rPr>
            <a:t>)</a:t>
          </a:r>
        </a:p>
      </dsp:txBody>
      <dsp:txXfrm>
        <a:off x="5730225" y="64540"/>
        <a:ext cx="3330964" cy="1950043"/>
      </dsp:txXfrm>
    </dsp:sp>
    <dsp:sp modelId="{5E3CB74A-CDCA-4E35-BD69-1962085A86DF}">
      <dsp:nvSpPr>
        <dsp:cNvPr id="0" name=""/>
        <dsp:cNvSpPr/>
      </dsp:nvSpPr>
      <dsp:spPr>
        <a:xfrm rot="5400000">
          <a:off x="7029763" y="2316914"/>
          <a:ext cx="731888" cy="8561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100" kern="1200"/>
        </a:p>
      </dsp:txBody>
      <dsp:txXfrm rot="-5400000">
        <a:off x="7138856" y="2379055"/>
        <a:ext cx="513703" cy="512322"/>
      </dsp:txXfrm>
    </dsp:sp>
    <dsp:sp modelId="{53429899-4CBB-4BB8-A1AD-1914CB631CDF}">
      <dsp:nvSpPr>
        <dsp:cNvPr id="0" name=""/>
        <dsp:cNvSpPr/>
      </dsp:nvSpPr>
      <dsp:spPr>
        <a:xfrm>
          <a:off x="5669556" y="3456174"/>
          <a:ext cx="3452302" cy="2071381"/>
        </a:xfrm>
        <a:prstGeom prst="roundRect">
          <a:avLst>
            <a:gd name="adj" fmla="val 10000"/>
          </a:avLst>
        </a:prstGeom>
        <a:solidFill>
          <a:srgbClr val="DA251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3. Тестирование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0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1.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09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.202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-19.12.202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ru-RU" sz="2700" kern="1200" dirty="0">
            <a:solidFill>
              <a:schemeClr val="bg1"/>
            </a:solidFill>
            <a:latin typeface="Times New Roman" panose="02020603050405020304" pitchFamily="18" charset="0"/>
            <a:ea typeface="Calibri"/>
            <a:cs typeface="Times New Roman" panose="02020603050405020304" pitchFamily="18" charset="0"/>
          </a:endParaRPr>
        </a:p>
      </dsp:txBody>
      <dsp:txXfrm>
        <a:off x="5730225" y="3516843"/>
        <a:ext cx="3330964" cy="1950043"/>
      </dsp:txXfrm>
    </dsp:sp>
    <dsp:sp modelId="{F81E5C07-C952-40CF-BE3A-ECC336569DE8}">
      <dsp:nvSpPr>
        <dsp:cNvPr id="0" name=""/>
        <dsp:cNvSpPr/>
      </dsp:nvSpPr>
      <dsp:spPr>
        <a:xfrm rot="10800000">
          <a:off x="4633865" y="4063779"/>
          <a:ext cx="731888" cy="8561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100" kern="1200"/>
        </a:p>
      </dsp:txBody>
      <dsp:txXfrm rot="10800000">
        <a:off x="4853431" y="4235013"/>
        <a:ext cx="512322" cy="513703"/>
      </dsp:txXfrm>
    </dsp:sp>
    <dsp:sp modelId="{5C359839-130B-4746-A752-05EC29026A34}">
      <dsp:nvSpPr>
        <dsp:cNvPr id="0" name=""/>
        <dsp:cNvSpPr/>
      </dsp:nvSpPr>
      <dsp:spPr>
        <a:xfrm>
          <a:off x="836332" y="3456174"/>
          <a:ext cx="3452302" cy="2071381"/>
        </a:xfrm>
        <a:prstGeom prst="roundRect">
          <a:avLst>
            <a:gd name="adj" fmla="val 10000"/>
          </a:avLst>
        </a:prstGeom>
        <a:solidFill>
          <a:srgbClr val="DA251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4. Финальный этап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(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20.12.202</a:t>
          </a:r>
          <a:r>
            <a:rPr lang="en-US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  <a:r>
            <a:rPr lang="ru-RU" sz="2700" kern="12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rPr>
            <a:t>)</a:t>
          </a:r>
        </a:p>
      </dsp:txBody>
      <dsp:txXfrm>
        <a:off x="897001" y="3516843"/>
        <a:ext cx="3330964" cy="1950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B0F2591-6FEB-4AAB-83DA-C13FDCD33091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382680" y="685800"/>
            <a:ext cx="6092640" cy="342864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6F4851-CA09-4452-8D17-CA3B43FFD975}" type="slidenum"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6148440" y="0"/>
            <a:ext cx="6041520" cy="685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1842120"/>
            <a:ext cx="5753160" cy="28436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algn="ctr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1784520" y="687240"/>
            <a:ext cx="40122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17360" rIns="117360" tIns="58680" bIns="58680" anchor="t">
            <a:spAutoFit/>
          </a:bodyPr>
          <a:p>
            <a:pPr algn="ctr" defTabSz="1172160">
              <a:lnSpc>
                <a:spcPct val="100000"/>
              </a:lnSpc>
              <a:tabLst>
                <a:tab algn="l" pos="0"/>
              </a:tabLst>
            </a:pPr>
            <a:r>
              <a:rPr b="0" lang="ru-RU" sz="2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Череповецкий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1172160">
              <a:lnSpc>
                <a:spcPct val="100000"/>
              </a:lnSpc>
              <a:tabLst>
                <a:tab algn="l" pos="0"/>
              </a:tabLst>
            </a:pPr>
            <a:r>
              <a:rPr b="0" lang="ru-RU" sz="23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государственный университет</a:t>
            </a:r>
            <a:endParaRPr b="0" lang="ru-RU" sz="2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880"/>
            <a:ext cx="1097064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5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блиц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487440" y="2109240"/>
            <a:ext cx="11204280" cy="402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02EAD312-E6D2-42D5-9849-31A32E2FC8F8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Прямоугольник 6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" name="Заголовок 1"/>
          <p:cNvSpPr/>
          <p:nvPr/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117360" tIns="58680" bIns="58680" anchor="ctr">
            <a:normAutofit/>
          </a:bodyPr>
          <a:p>
            <a:pPr defTabSz="1172160">
              <a:lnSpc>
                <a:spcPct val="100000"/>
              </a:lnSpc>
              <a:tabLst>
                <a:tab algn="l" pos="0"/>
              </a:tabLst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487440" y="991800"/>
            <a:ext cx="11204280" cy="11167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нтак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ftr" idx="4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4FA65639-BF51-470C-82EE-9221F927C502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Прямоугольник 4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" name="Заголовок 1"/>
          <p:cNvSpPr/>
          <p:nvPr/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7360" rIns="117360" tIns="58680" bIns="58680" anchor="ctr">
            <a:normAutofit/>
          </a:bodyPr>
          <a:p>
            <a:pPr defTabSz="1172160">
              <a:lnSpc>
                <a:spcPct val="100000"/>
              </a:lnSpc>
              <a:tabLst>
                <a:tab algn="l" pos="0"/>
              </a:tabLst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61960" y="3263040"/>
            <a:ext cx="2657160" cy="261540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3390120" y="3262320"/>
            <a:ext cx="2657160" cy="261540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218280" y="3262320"/>
            <a:ext cx="2657160" cy="261540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body"/>
          </p:nvPr>
        </p:nvSpPr>
        <p:spPr>
          <a:xfrm>
            <a:off x="9046440" y="3262320"/>
            <a:ext cx="2657160" cy="261540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7"/>
          <p:cNvSpPr>
            <a:spLocks noGrp="1"/>
          </p:cNvSpPr>
          <p:nvPr>
            <p:ph type="body"/>
          </p:nvPr>
        </p:nvSpPr>
        <p:spPr>
          <a:xfrm>
            <a:off x="859320" y="1112760"/>
            <a:ext cx="2061720" cy="206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8"/>
          <p:cNvSpPr>
            <a:spLocks noGrp="1"/>
          </p:cNvSpPr>
          <p:nvPr>
            <p:ph type="body"/>
          </p:nvPr>
        </p:nvSpPr>
        <p:spPr>
          <a:xfrm>
            <a:off x="3687840" y="1112760"/>
            <a:ext cx="2061720" cy="206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9"/>
          <p:cNvSpPr>
            <a:spLocks noGrp="1"/>
          </p:cNvSpPr>
          <p:nvPr>
            <p:ph type="body"/>
          </p:nvPr>
        </p:nvSpPr>
        <p:spPr>
          <a:xfrm>
            <a:off x="6516000" y="1112760"/>
            <a:ext cx="2061720" cy="206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0"/>
          <p:cNvSpPr>
            <a:spLocks noGrp="1"/>
          </p:cNvSpPr>
          <p:nvPr>
            <p:ph type="body"/>
          </p:nvPr>
        </p:nvSpPr>
        <p:spPr>
          <a:xfrm>
            <a:off x="9344160" y="1112760"/>
            <a:ext cx="2061720" cy="206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ftr" idx="6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Прямоугольник 6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983160"/>
            <a:ext cx="10971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7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2C484A9F-9FB4-4BE8-B13A-0FD2C67090BB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8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AB31B804-B79B-433C-A717-2D2A118960DF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Прямоугольник 6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5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9480" y="1604880"/>
            <a:ext cx="10970640" cy="39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5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ftr" idx="10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Прямоугольник 6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1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B89A37E7-FC6B-4D57-90A9-D9081622517D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1" name="Прямая соединительная линия 12"/>
          <p:cNvCxnSpPr/>
          <p:nvPr/>
        </p:nvCxnSpPr>
        <p:spPr>
          <a:xfrm>
            <a:off x="6118200" y="982800"/>
            <a:ext cx="360" cy="5145120"/>
          </a:xfrm>
          <a:prstGeom prst="straightConnector1">
            <a:avLst/>
          </a:prstGeom>
          <a:ln cap="rnd" w="12700">
            <a:solidFill>
              <a:srgbClr val="b2a8a7"/>
            </a:solidFill>
            <a:round/>
          </a:ln>
        </p:spPr>
      </p:cxn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512640" y="983160"/>
            <a:ext cx="543384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289560" y="983160"/>
            <a:ext cx="543384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три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12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Прямоугольник 6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311040" y="983160"/>
            <a:ext cx="36108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13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5647FB22-8A96-4811-9293-3459D637698A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0" name="Прямая соединительная линия 12"/>
          <p:cNvCxnSpPr/>
          <p:nvPr/>
        </p:nvCxnSpPr>
        <p:spPr>
          <a:xfrm>
            <a:off x="4105080" y="982800"/>
            <a:ext cx="360" cy="5145120"/>
          </a:xfrm>
          <a:prstGeom prst="straightConnector1">
            <a:avLst/>
          </a:prstGeom>
          <a:ln cap="rnd" w="12700">
            <a:solidFill>
              <a:srgbClr val="b2a8a7"/>
            </a:solidFill>
            <a:round/>
          </a:ln>
        </p:spPr>
      </p:cxn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288680" y="983160"/>
            <a:ext cx="36108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2" name="Прямая соединительная линия 10"/>
          <p:cNvCxnSpPr/>
          <p:nvPr/>
        </p:nvCxnSpPr>
        <p:spPr>
          <a:xfrm>
            <a:off x="8082720" y="982800"/>
            <a:ext cx="360" cy="5145120"/>
          </a:xfrm>
          <a:prstGeom prst="straightConnector1">
            <a:avLst/>
          </a:prstGeom>
          <a:ln cap="rnd" w="12700">
            <a:solidFill>
              <a:srgbClr val="b2a8a7"/>
            </a:solidFill>
            <a:round/>
          </a:ln>
        </p:spPr>
      </p:cxnSp>
      <p:sp>
        <p:nvSpPr>
          <p:cNvPr id="53" name="PlaceHolder 6"/>
          <p:cNvSpPr>
            <a:spLocks noGrp="1"/>
          </p:cNvSpPr>
          <p:nvPr>
            <p:ph type="body"/>
          </p:nvPr>
        </p:nvSpPr>
        <p:spPr>
          <a:xfrm>
            <a:off x="8266320" y="983160"/>
            <a:ext cx="36108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4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кст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14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5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92DE33EE-19D5-4F6B-9486-6E9F76CECE69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Прямоугольник 4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174720" y="983160"/>
            <a:ext cx="5517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algn="ctr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algn="ctr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algn="ctr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524520" y="983160"/>
            <a:ext cx="5517360" cy="514440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1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екст и объект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ftr" idx="16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7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6C9FCE1F-8D01-4EF8-BEF4-B0C1DC887CE0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Прямоугольник 4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24520" y="3931920"/>
            <a:ext cx="11167200" cy="21952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marL="2160" indent="-2160" algn="ctr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algn="ctr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algn="ctr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524520" y="983160"/>
            <a:ext cx="11167200" cy="279576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ftr" idx="18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ldNum" idx="19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E8924C1F-82E9-4683-B508-185BD2B993B0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Прямоугольник 4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72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Шаг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body"/>
          </p:nvPr>
        </p:nvSpPr>
        <p:spPr>
          <a:xfrm>
            <a:off x="2088000" y="3878280"/>
            <a:ext cx="3667320" cy="14191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801920" y="3876120"/>
            <a:ext cx="3667320" cy="14191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7801920" y="1620360"/>
            <a:ext cx="3667320" cy="14191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2088720" y="1619640"/>
            <a:ext cx="3667320" cy="14191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marL="2160" indent="-2160" defTabSz="1172160">
              <a:lnSpc>
                <a:spcPct val="100000"/>
              </a:lnSpc>
              <a:spcBef>
                <a:spcPts val="459"/>
              </a:spcBef>
              <a:buNone/>
              <a:tabLst>
                <a:tab algn="l" pos="0"/>
              </a:tabLst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61880" indent="-3960" defTabSz="117216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3760" indent="2160" defTabSz="117216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20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21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2DCED1B8-94AC-404B-8412-0E32A8AC3229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Прямоугольник 12"/>
          <p:cNvSpPr/>
          <p:nvPr/>
        </p:nvSpPr>
        <p:spPr>
          <a:xfrm>
            <a:off x="0" y="0"/>
            <a:ext cx="12189960" cy="776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l" blurRad="177840" dir="5400000" dist="63360" rotWithShape="0">
              <a:srgbClr val="000000">
                <a:alpha val="3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17360" rIns="117360" tIns="58680" bIns="58680" anchor="ctr">
            <a:noAutofit/>
          </a:bodyPr>
          <a:p>
            <a:pPr algn="ctr" defTabSz="1172160">
              <a:lnSpc>
                <a:spcPct val="100000"/>
              </a:lnSpc>
            </a:pPr>
            <a:endParaRPr b="0" lang="ru-RU" sz="23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Образец заголовка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6" descr="G:\CHSU\Бакалавриат\Презентации\ЧГУ (Brandbook)_титул_700 - копия.png"/>
          <p:cNvPicPr/>
          <p:nvPr/>
        </p:nvPicPr>
        <p:blipFill>
          <a:blip r:embed="rId2"/>
          <a:stretch/>
        </p:blipFill>
        <p:spPr>
          <a:xfrm>
            <a:off x="11508120" y="0"/>
            <a:ext cx="681840" cy="77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8"/>
          <p:cNvSpPr>
            <a:spLocks noGrp="1"/>
          </p:cNvSpPr>
          <p:nvPr>
            <p:ph type="body"/>
          </p:nvPr>
        </p:nvSpPr>
        <p:spPr>
          <a:xfrm>
            <a:off x="758880" y="1813320"/>
            <a:ext cx="1031400" cy="103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9"/>
          <p:cNvSpPr>
            <a:spLocks noGrp="1"/>
          </p:cNvSpPr>
          <p:nvPr>
            <p:ph type="body"/>
          </p:nvPr>
        </p:nvSpPr>
        <p:spPr>
          <a:xfrm>
            <a:off x="6464160" y="1813320"/>
            <a:ext cx="1031400" cy="103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0"/>
          <p:cNvSpPr>
            <a:spLocks noGrp="1"/>
          </p:cNvSpPr>
          <p:nvPr>
            <p:ph type="body"/>
          </p:nvPr>
        </p:nvSpPr>
        <p:spPr>
          <a:xfrm>
            <a:off x="6464160" y="4070160"/>
            <a:ext cx="1031400" cy="103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1"/>
          <p:cNvSpPr>
            <a:spLocks noGrp="1"/>
          </p:cNvSpPr>
          <p:nvPr>
            <p:ph type="body"/>
          </p:nvPr>
        </p:nvSpPr>
        <p:spPr>
          <a:xfrm>
            <a:off x="758880" y="4070160"/>
            <a:ext cx="1031400" cy="103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300" strike="noStrike" u="none">
              <a:solidFill>
                <a:schemeClr val="lt1">
                  <a:lumMod val="7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914400" y="1842120"/>
            <a:ext cx="5753160" cy="28436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rmAutofit/>
          </a:bodyPr>
          <a:p>
            <a:pPr indent="0" algn="ctr" defTabSz="1172160">
              <a:lnSpc>
                <a:spcPct val="100000"/>
              </a:lnSpc>
              <a:buNone/>
            </a:pPr>
            <a:r>
              <a:rPr b="1" lang="ru-RU" sz="28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Calibri"/>
              </a:rPr>
              <a:t>Создание новых виджетов для ФИС платформы 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rm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28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Команда «Виджеты для ФИС»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Таблица 7"/>
          <p:cNvGraphicFramePr/>
          <p:nvPr/>
        </p:nvGraphicFramePr>
        <p:xfrm>
          <a:off x="311040" y="1302480"/>
          <a:ext cx="11565720" cy="3750120"/>
        </p:xfrm>
        <a:graphic>
          <a:graphicData uri="http://schemas.openxmlformats.org/drawingml/2006/table">
            <a:tbl>
              <a:tblPr/>
              <a:tblGrid>
                <a:gridCol w="6774120"/>
                <a:gridCol w="4791600"/>
              </a:tblGrid>
              <a:tr h="74988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Бекошин Никита Вячеславович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rgbClr val="262626"/>
                          </a:solidFill>
                          <a:effectLst/>
                          <a:uFillTx/>
                          <a:latin typeface="Times New Roman"/>
                        </a:rPr>
                        <a:t>1ПИб-02-3оп-23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4988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Гурбанович Вероника Андреевна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1ПИб-02-3оп-23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Таблица 4"/>
          <p:cNvGraphicFramePr/>
          <p:nvPr/>
        </p:nvGraphicFramePr>
        <p:xfrm>
          <a:off x="311040" y="5275440"/>
          <a:ext cx="6774120" cy="1264680"/>
        </p:xfrm>
        <a:graphic>
          <a:graphicData uri="http://schemas.openxmlformats.org/drawingml/2006/table">
            <a:tbl>
              <a:tblPr/>
              <a:tblGrid>
                <a:gridCol w="6774120"/>
              </a:tblGrid>
              <a:tr h="42156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Руководители проектного обучения: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2156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Ершов Евгений Валентинович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  <a:tr h="42156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Юдина Ольга Вадимовна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Проблема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61520" y="1052280"/>
            <a:ext cx="11267280" cy="113616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spAutoFit/>
          </a:bodyPr>
          <a:p>
            <a:pPr indent="0" algn="just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В распоряжении заказчика отсутствует программный инструмент для манипулирования данными модели приложений ФИС. Также не хватает набора виджетов на платформе ФИС для автоматизации процессов внутри компании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. 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8" name="Рисунок 6" descr=""/>
          <p:cNvPicPr/>
          <p:nvPr/>
        </p:nvPicPr>
        <p:blipFill>
          <a:blip r:embed="rId1"/>
          <a:srcRect l="0" t="6682" r="0" b="0"/>
          <a:stretch/>
        </p:blipFill>
        <p:spPr>
          <a:xfrm>
            <a:off x="3948480" y="2278800"/>
            <a:ext cx="4762080" cy="444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118;p2"/>
          <p:cNvGraphicFramePr/>
          <p:nvPr/>
        </p:nvGraphicFramePr>
        <p:xfrm>
          <a:off x="428760" y="1191600"/>
          <a:ext cx="11448000" cy="4507920"/>
        </p:xfrm>
        <a:graphic>
          <a:graphicData uri="http://schemas.openxmlformats.org/drawingml/2006/table">
            <a:tbl>
              <a:tblPr/>
              <a:tblGrid>
                <a:gridCol w="5724000"/>
                <a:gridCol w="2862000"/>
                <a:gridCol w="2862000"/>
              </a:tblGrid>
              <a:tr h="171720"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Проблема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Показатели эффективности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915480">
                <a:tc>
                  <a:txBody>
                    <a:bodyPr anchor="t">
                      <a:noAutofit/>
                    </a:bodyPr>
                    <a:p>
                      <a:pPr algn="just"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В распоряжении заказчика отсутствует программный инструмент для манипулирования данными модели приложений ФИС. Также не хватает набора виджетов на платформе ФИС для автоматизации процессов внутри компании. 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marL="343080" indent="-343080" algn="just" defTabSz="11721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arenR"/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Сокращение на 30% затраченных часов на разработку интерфейса приложений ФИС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just" defTabSz="11721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arenR"/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Экономическая выгода (внедрение продукта снизит расходы на 10%)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343080" indent="-343080" algn="just" defTabSz="117216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OpenSymbol"/>
                        <a:buAutoNum type="arabicParenR"/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Качество процесса (внедрение продукта позволит сократить количество ошибок на 10%)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Цель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Тип проекта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Сложность проекта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</a:tr>
              <a:tr h="546120"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Автоматизация и ускорение процесса разработки бизнес-приложений на платформе ФИС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IT-</a:t>
                      </a: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решение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В – повышенный уровень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  <a:tr h="369000">
                <a:tc gridSpan="3"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Описание продуктового результата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a251d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28400">
                <a:tc gridSpan="3"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Готовый виджет на платформе ФИС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9d2d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423000"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Срок реализации проекта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Заказчик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11560">
                <a:tc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01.04.2024-20.12.2025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Организация-заказчик: ООО «Совкомбанк - Технологии»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Представитель заказчика: Меньшев Василий Александрович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sldNum" idx="25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  <a:tabLst>
                <a:tab algn="l" pos="0"/>
              </a:tabLst>
            </a:pPr>
            <a:fld id="{4D6FDB0D-2778-481F-8341-4A170963F4E5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0" y="-54360"/>
            <a:ext cx="12728880" cy="877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28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Карточка проекта </a:t>
            </a:r>
            <a:r>
              <a:rPr b="1" lang="ru-RU" sz="24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«</a:t>
            </a:r>
            <a:r>
              <a:rPr b="1" lang="ru-RU" sz="28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Calibri"/>
              </a:rPr>
              <a:t>Создание новых виджетов для ФИС платформы</a:t>
            </a:r>
            <a:r>
              <a:rPr b="1" lang="ru-RU" sz="24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Calibri"/>
              </a:rPr>
              <a:t>»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ftr" idx="26"/>
          </p:nvPr>
        </p:nvSpPr>
        <p:spPr>
          <a:xfrm rot="10800000">
            <a:off x="212760" y="7379640"/>
            <a:ext cx="4040280" cy="8816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>
              <a:buNone/>
            </a:pPr>
            <a:endParaRPr b="0" lang="ru-RU" sz="15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ФИС-платформа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65400" y="973800"/>
            <a:ext cx="7015320" cy="53834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 lnSpcReduction="9999"/>
          </a:bodyPr>
          <a:p>
            <a:pPr marL="2160" indent="270000" algn="just" defTabSz="1172160">
              <a:lnSpc>
                <a:spcPct val="15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ФИС-платформа</a:t>
            </a: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– это программная платформа, ориентированная на автоматизацию и оптимизацию процессов в финансовом секторе. Она основана на использовании low-code подхода. 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" indent="270000" algn="just" defTabSz="1172160">
              <a:lnSpc>
                <a:spcPct val="150000"/>
              </a:lnSpc>
              <a:spcBef>
                <a:spcPts val="479"/>
              </a:spcBef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Low-code (англ. «мало кода») – это подход к разработке ПО, в котором большая часть работы выполняется с помощью визуальных инструментов. Этот метод ускоряет создание программных продуктов и снижает требования к квалификации разработчиков.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5" name="Рисунок 5" descr=""/>
          <p:cNvPicPr/>
          <p:nvPr/>
        </p:nvPicPr>
        <p:blipFill>
          <a:blip r:embed="rId1"/>
          <a:stretch/>
        </p:blipFill>
        <p:spPr>
          <a:xfrm>
            <a:off x="8159760" y="973800"/>
            <a:ext cx="3444120" cy="234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Рисунок 6" descr=""/>
          <p:cNvPicPr/>
          <p:nvPr/>
        </p:nvPicPr>
        <p:blipFill>
          <a:blip r:embed="rId2"/>
          <a:srcRect l="0" t="0" r="0" b="39312"/>
          <a:stretch/>
        </p:blipFill>
        <p:spPr>
          <a:xfrm>
            <a:off x="8325360" y="3429720"/>
            <a:ext cx="3113280" cy="294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rmAutofit/>
          </a:bodyPr>
          <a:p>
            <a:pPr indent="0" defTabSz="117216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Обзор существующих решений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27"/>
          </p:nvPr>
        </p:nvSpPr>
        <p:spPr>
          <a:xfrm>
            <a:off x="11119680" y="635796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tabLst>
                <a:tab algn="l" pos="0"/>
              </a:tabLst>
              <a:defRPr b="0" lang="ru-RU" sz="1500" strike="noStrike" u="none">
                <a:solidFill>
                  <a:srgbClr val="888888"/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  <a:tabLst>
                <a:tab algn="l" pos="0"/>
              </a:tabLst>
            </a:pPr>
            <a:fld id="{24AFE10C-840E-42E5-8967-2757B1DED5A2}" type="slidenum">
              <a:rPr b="0" lang="ru-RU" sz="1500" strike="noStrike" u="none">
                <a:solidFill>
                  <a:srgbClr val="888888"/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Google Shape;129;p3"/>
          <p:cNvSpPr/>
          <p:nvPr/>
        </p:nvSpPr>
        <p:spPr>
          <a:xfrm>
            <a:off x="789120" y="1120680"/>
            <a:ext cx="11118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just" defTabSz="117216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Стандартный набор виджетов на платформе ФИС.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Рисунок 3" descr=""/>
          <p:cNvPicPr/>
          <p:nvPr/>
        </p:nvPicPr>
        <p:blipFill>
          <a:blip r:embed="rId1"/>
          <a:srcRect l="895" t="0" r="1803" b="0"/>
          <a:stretch/>
        </p:blipFill>
        <p:spPr>
          <a:xfrm>
            <a:off x="174960" y="2526480"/>
            <a:ext cx="11840040" cy="361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ftr" idx="28"/>
          </p:nvPr>
        </p:nvSpPr>
        <p:spPr>
          <a:xfrm rot="10800000">
            <a:off x="212760" y="7379640"/>
            <a:ext cx="4040280" cy="8816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>
              <a:buNone/>
            </a:pPr>
            <a:endParaRPr b="0" lang="ru-RU" sz="15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  <a:ea typeface="Calibri"/>
              </a:rPr>
              <a:t>Решение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365400" y="973800"/>
            <a:ext cx="11288160" cy="131616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/>
          </a:bodyPr>
          <a:p>
            <a:pPr marL="1800" indent="-1800" algn="just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Calibri"/>
              </a:rPr>
              <a:t>Готовый виджет на платформе ФИС, который позволяет манипулировать данными модели приложений. Виджет имеет конечный набор свойств и событий. Принимает на вход данные, описывающие то, что мы хотим увидеть на экране.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4" name="Рисунок 8" descr=""/>
          <p:cNvPicPr/>
          <p:nvPr/>
        </p:nvPicPr>
        <p:blipFill>
          <a:blip r:embed="rId1"/>
          <a:stretch/>
        </p:blipFill>
        <p:spPr>
          <a:xfrm>
            <a:off x="2473920" y="2364480"/>
            <a:ext cx="7575120" cy="40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График реализации проекта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983160"/>
            <a:ext cx="10971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1891056580"/>
              </p:ext>
            </p:extLst>
          </p:nvPr>
        </p:nvGraphicFramePr>
        <p:xfrm>
          <a:off x="1331640" y="1007280"/>
          <a:ext cx="9957960" cy="55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График реализации проекта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983160"/>
            <a:ext cx="10971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9" name="Таблица 5"/>
          <p:cNvGraphicFramePr/>
          <p:nvPr/>
        </p:nvGraphicFramePr>
        <p:xfrm>
          <a:off x="277920" y="975960"/>
          <a:ext cx="11634120" cy="5672160"/>
        </p:xfrm>
        <a:graphic>
          <a:graphicData uri="http://schemas.openxmlformats.org/drawingml/2006/table">
            <a:tbl>
              <a:tblPr/>
              <a:tblGrid>
                <a:gridCol w="464040"/>
                <a:gridCol w="17499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  <a:gridCol w="448560"/>
              </a:tblGrid>
              <a:tr h="382320"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Этап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11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Мероприятие</a:t>
                      </a:r>
                      <a:endParaRPr b="0" lang="ru-RU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Апр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2024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Май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Июн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Июл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Авг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Сен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Окт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Нояб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Дек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Янв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2025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Фев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Мар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Апр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Май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Июн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Июл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Авг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Сен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Окт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Нояб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117216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Дек</a:t>
                      </a:r>
                      <a:endParaRPr b="0" lang="ru-RU" sz="9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82320">
                <a:tc rowSpan="5"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Ознакомление с целью и задачами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Изучение аналогов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Подготовка первоначального перечня функций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Обсуждение этапов проекта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Формирование бюджета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rowSpan="5"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Создание поля ввода для поиска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Создание кнопки расширенного поиска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Создание истории поиска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Создание всплывающего окна с таблицей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Обсуждение прогресса с заказчиком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rowSpan="2"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Первичный запуск виджета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</a:tr>
              <a:tr h="3823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Тестирование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</a:tr>
              <a:tr h="382320"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</a:pPr>
                      <a:r>
                        <a:rPr b="0" lang="ru-RU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Презентация проекта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e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ru-RU" sz="8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Риски проекта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9"/>
          </p:nvPr>
        </p:nvSpPr>
        <p:spPr>
          <a:xfrm>
            <a:off x="11251080" y="6489000"/>
            <a:ext cx="75708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lstStyle>
            <a:lvl1pPr indent="0" algn="r" defTabSz="1172160">
              <a:lnSpc>
                <a:spcPct val="100000"/>
              </a:lnSpc>
              <a:buNone/>
              <a:def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1172160">
              <a:lnSpc>
                <a:spcPct val="100000"/>
              </a:lnSpc>
              <a:buNone/>
            </a:pPr>
            <a:fld id="{CF011757-CDD2-4A9F-9E02-97E2523B888A}" type="slidenum">
              <a:rPr b="0" lang="ru-RU" sz="15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&lt;номер&gt;</a:t>
            </a:fld>
            <a:endParaRPr b="0" lang="ru-RU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2" name="Google Shape;128;p3"/>
          <p:cNvGraphicFramePr/>
          <p:nvPr/>
        </p:nvGraphicFramePr>
        <p:xfrm>
          <a:off x="901440" y="1128600"/>
          <a:ext cx="10728000" cy="5060160"/>
        </p:xfrm>
        <a:graphic>
          <a:graphicData uri="http://schemas.openxmlformats.org/drawingml/2006/table">
            <a:tbl>
              <a:tblPr/>
              <a:tblGrid>
                <a:gridCol w="5115240"/>
                <a:gridCol w="5612760"/>
              </a:tblGrid>
              <a:tr h="11851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Ключевые риски проекта</a:t>
                      </a:r>
                      <a:endParaRPr b="0" lang="ru-RU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Мероприятия по управлению рисками</a:t>
                      </a:r>
                      <a:endParaRPr b="0" lang="ru-RU" sz="2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a251d"/>
                    </a:solidFill>
                  </a:tcPr>
                </a:tc>
              </a:tr>
              <a:tr h="49140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4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Недостаточные знания предметной области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Изучение предоставленной заказчиком документации. Своевременная обратная связь с заказчиком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  <a:tr h="1260000"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Несоответствие продукта требованиям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Постоянная коммуникация с заказчиком проекта, совместное обсуждение дальнейшего плана проекта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  <a:tr h="747720">
                <a:tc>
                  <a:txBody>
                    <a:bodyPr lIns="68400" rIns="68400" tIns="0" bIns="0" anchor="ctr">
                      <a:noAutofit/>
                    </a:bodyPr>
                    <a:p>
                      <a:pPr algn="just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Несоблюдение сроков реализации.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Разделять каждую задачу на подзадачи и составлять план реализации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  <a:tr h="490680">
                <a:tc>
                  <a:txBody>
                    <a:bodyPr lIns="68400" rIns="68400" tIns="0" bIns="0" anchor="ctr">
                      <a:noAutofit/>
                    </a:bodyPr>
                    <a:p>
                      <a:pPr algn="just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Ошибочная оценка бюджета проекта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23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Консультирование с руководителями проекта</a:t>
                      </a:r>
                      <a:endParaRPr b="0" lang="ru-RU" sz="2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9d2d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30"/>
          </p:nvPr>
        </p:nvSpPr>
        <p:spPr>
          <a:xfrm rot="10800000">
            <a:off x="212760" y="7379640"/>
            <a:ext cx="4040280" cy="8816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>
              <a:buNone/>
            </a:pPr>
            <a:endParaRPr b="0" lang="ru-RU" sz="15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Бюджет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216000" y="983160"/>
            <a:ext cx="11288160" cy="547236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/>
          </a:bodyPr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00" indent="-1800" defTabSz="117216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endParaRPr b="0" lang="ru-RU" sz="1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Таблица 5"/>
          <p:cNvGraphicFramePr/>
          <p:nvPr/>
        </p:nvGraphicFramePr>
        <p:xfrm>
          <a:off x="415440" y="857160"/>
          <a:ext cx="11461320" cy="5775480"/>
        </p:xfrm>
        <a:graphic>
          <a:graphicData uri="http://schemas.openxmlformats.org/drawingml/2006/table">
            <a:tbl>
              <a:tblPr/>
              <a:tblGrid>
                <a:gridCol w="384120"/>
                <a:gridCol w="4005360"/>
                <a:gridCol w="1194120"/>
                <a:gridCol w="1221120"/>
                <a:gridCol w="818640"/>
                <a:gridCol w="1139400"/>
                <a:gridCol w="2697480"/>
              </a:tblGrid>
              <a:tr h="7574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№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Статья расхода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Стоимость (ед.), руб.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Количество единиц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Всего, руб.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667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Всего (фактич.), руб.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Источник финансирования / комментарий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505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Оборудование (персональные компьютеры, периферийные устройства)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6 шт.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600000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ЧГУ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0384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Лицензии на программное обеспечение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- 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ЧГУ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</a:tr>
              <a:tr h="25848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Изучение ФИС платформы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500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16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2112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Реализация поля ввода для поиска объекта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750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24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18000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</a:tr>
              <a:tr h="5868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5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Реализация кнопок расширенного поиска и добавления нового объекта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750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32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24000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384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6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Реализация журнала истории поиска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</a:tr>
              <a:tr h="3384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</a:rPr>
                        <a:t>7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Реализация всплывающего окна с таблицей объектов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1250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28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35000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384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Реализация всплывающего окна добавления нового объекта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1250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28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35000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</a:tr>
              <a:tr h="338400">
                <a:tc>
                  <a:txBody>
                    <a:bodyPr lIns="68400" rIns="68400" tIns="0" bIns="0" anchor="ctr">
                      <a:noAutofit/>
                    </a:bodyPr>
                    <a:p>
                      <a:pPr algn="ct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accent6">
                              <a:lumMod val="25000"/>
                            </a:schemeClr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9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Тестирование ПО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1000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40 ч.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40000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 рамках проектной деятельности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38400">
                <a:tc gridSpan="4">
                  <a:txBody>
                    <a:bodyPr lIns="68400" rIns="68400" tIns="0" bIns="0" anchor="ctr">
                      <a:noAutofit/>
                    </a:bodyPr>
                    <a:p>
                      <a:pPr algn="r"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Times New Roman"/>
                        </a:rPr>
                        <a:t>Итого (общий)</a:t>
                      </a:r>
                      <a:endParaRPr b="0" lang="ru-RU" sz="16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820000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pPr defTabSz="117216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ru-RU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0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  <a:tc>
                  <a:txBody>
                    <a:bodyPr lIns="68400" rIns="68400" tIns="0" bIns="0" anchor="ctr">
                      <a:noAutofit/>
                    </a:bodyPr>
                    <a:p>
                      <a:endParaRPr b="0" lang="ru-RU" sz="2300" strike="noStrike" u="none">
                        <a:solidFill>
                          <a:schemeClr val="dk1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8400" marR="684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1cd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ftr" idx="31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>
              <a:buNone/>
            </a:pPr>
            <a:endParaRPr b="0" lang="ru-RU" sz="15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Описание и демонстрация продуктового результата проекта 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09480" y="983160"/>
            <a:ext cx="10971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2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0" name="Рисунок 6" descr=""/>
          <p:cNvPicPr/>
          <p:nvPr/>
        </p:nvPicPr>
        <p:blipFill>
          <a:blip r:embed="rId1"/>
          <a:stretch/>
        </p:blipFill>
        <p:spPr>
          <a:xfrm>
            <a:off x="609480" y="1176840"/>
            <a:ext cx="10971000" cy="462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ftr" idx="32"/>
          </p:nvPr>
        </p:nvSpPr>
        <p:spPr>
          <a:xfrm>
            <a:off x="311040" y="6357960"/>
            <a:ext cx="7713720" cy="36468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>
              <a:buNone/>
            </a:pPr>
            <a:endParaRPr b="0" lang="ru-RU" sz="15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title"/>
          </p:nvPr>
        </p:nvSpPr>
        <p:spPr>
          <a:xfrm>
            <a:off x="311040" y="0"/>
            <a:ext cx="11118960" cy="77652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ctr">
            <a:noAutofit/>
          </a:bodyPr>
          <a:p>
            <a:pPr indent="0" defTabSz="1172160">
              <a:lnSpc>
                <a:spcPct val="100000"/>
              </a:lnSpc>
              <a:buNone/>
            </a:pPr>
            <a:r>
              <a:rPr b="1" lang="ru-RU" sz="31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Результаты проекта</a:t>
            </a:r>
            <a:endParaRPr b="0" lang="ru-RU" sz="3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09480" y="983160"/>
            <a:ext cx="10971000" cy="5144040"/>
          </a:xfrm>
          <a:prstGeom prst="rect">
            <a:avLst/>
          </a:prstGeom>
          <a:noFill/>
          <a:ln w="0">
            <a:noFill/>
          </a:ln>
        </p:spPr>
        <p:txBody>
          <a:bodyPr lIns="117360" rIns="117360" tIns="58680" bIns="58680" anchor="t">
            <a:normAutofit/>
          </a:bodyPr>
          <a:p>
            <a:pPr marL="2160" indent="-2160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На данный момент проект продолжается. Разработан интерфейс виджета и его базовая логика.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" indent="-2160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Идет активная работа над реализацией различных функций виджета – добавления объектов, поиска, журнала истории и т. д.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" indent="-2160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Основной упор идет на работу с базой данных и адаптацией возможностей ФИС платформы под нужды проекта.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" indent="-2160" defTabSz="117216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По окончанию данных работ планируется проведение тестирования, а также последующее внедрение продукта проекта непосредственно в работу.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4" name="Рисунок 5" descr=""/>
          <p:cNvPicPr/>
          <p:nvPr/>
        </p:nvPicPr>
        <p:blipFill>
          <a:blip r:embed="rId1"/>
          <a:stretch/>
        </p:blipFill>
        <p:spPr>
          <a:xfrm>
            <a:off x="1707480" y="4705200"/>
            <a:ext cx="3535200" cy="153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Рисунок 6" descr=""/>
          <p:cNvPicPr/>
          <p:nvPr/>
        </p:nvPicPr>
        <p:blipFill>
          <a:blip r:embed="rId2"/>
          <a:stretch/>
        </p:blipFill>
        <p:spPr>
          <a:xfrm>
            <a:off x="6341040" y="4844160"/>
            <a:ext cx="4230360" cy="125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Презентация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b9d9955-93fb-4bd4-bcdb-8e7ddc259c20">
      <Terms xmlns="http://schemas.microsoft.com/office/infopath/2007/PartnerControls"/>
    </lcf76f155ced4ddcb4097134ff3c332f>
    <TaxCatchAll xmlns="4c612441-9502-4d03-96ef-459065c861af" xsi:nil="true"/>
    <SharedWithUsers xmlns="4c612441-9502-4d03-96ef-459065c861af">
      <UserInfo>
        <DisplayName>Медведев Михаил Дмитриевич</DisplayName>
        <AccountId>580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C87649E7524794AA35A456EA0EAADF8" ma:contentTypeVersion="17" ma:contentTypeDescription="Создание документа." ma:contentTypeScope="" ma:versionID="fb87eedecd697ba4617cc72a1530f443">
  <xsd:schema xmlns:xsd="http://www.w3.org/2001/XMLSchema" xmlns:xs="http://www.w3.org/2001/XMLSchema" xmlns:p="http://schemas.microsoft.com/office/2006/metadata/properties" xmlns:ns2="2b9d9955-93fb-4bd4-bcdb-8e7ddc259c20" xmlns:ns3="4c612441-9502-4d03-96ef-459065c861af" targetNamespace="http://schemas.microsoft.com/office/2006/metadata/properties" ma:root="true" ma:fieldsID="254d64a51c8f49f4711996da5ada53aa" ns2:_="" ns3:_="">
    <xsd:import namespace="2b9d9955-93fb-4bd4-bcdb-8e7ddc259c20"/>
    <xsd:import namespace="4c612441-9502-4d03-96ef-459065c86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9d9955-93fb-4bd4-bcdb-8e7ddc259c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8b14e38-c1c0-4c10-a034-9890b75499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12441-9502-4d03-96ef-459065c861a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4f5d557-526c-428f-9913-5aeff0506f6f}" ma:internalName="TaxCatchAll" ma:showField="CatchAllData" ma:web="4c612441-9502-4d03-96ef-459065c861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D8D69A-65EA-4ADD-8CB5-FD805E00AE98}">
  <ds:schemaRefs>
    <ds:schemaRef ds:uri="2b9d9955-93fb-4bd4-bcdb-8e7ddc259c20"/>
    <ds:schemaRef ds:uri="4c612441-9502-4d03-96ef-459065c861a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1B8064B-6AEE-45B6-92F7-27122D5215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95822B-D1AD-4571-BC09-6377FE1C3076}">
  <ds:schemaRefs>
    <ds:schemaRef ds:uri="2b9d9955-93fb-4bd4-bcdb-8e7ddc259c20"/>
    <ds:schemaRef ds:uri="4c612441-9502-4d03-96ef-459065c861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Application>LibreOffice/25.2.7.2$Windows_X86_64 LibreOffice_project/5cbfd1ab6520636bb5f7b99185aa69bd7456825d</Application>
  <AppVersion>15.0000</AppVersion>
  <Words>739</Words>
  <Paragraphs>221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2022-04-04T12:37:27Z</dcterms:created>
  <dc:creator>Anastasia</dc:creator>
  <dc:description/>
  <dc:language>ru-RU</dc:language>
  <cp:lastModifiedBy/>
  <dcterms:modified xsi:type="dcterms:W3CDTF">2026-03-01T19:18:17Z</dcterms:modified>
  <cp:revision>376</cp:revision>
  <dc:subject/>
  <dc:title>История и достижения кафедры химических технологий  1972-2022 гг.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0x0101003C87649E7524794AA35A456EA0EAADF8</vt:lpwstr>
  </property>
  <property fmtid="{D5CDD505-2E9C-101B-9397-08002B2CF9AE}" pid="3" name="MediaServiceImageTags">
    <vt:lpwstr/>
  </property>
  <property fmtid="{D5CDD505-2E9C-101B-9397-08002B2CF9AE}" pid="4" name="Notes">
    <vt:i4>3</vt:i4>
  </property>
  <property fmtid="{D5CDD505-2E9C-101B-9397-08002B2CF9AE}" pid="5" name="PresentationFormat">
    <vt:lpwstr>Произвольный</vt:lpwstr>
  </property>
  <property fmtid="{D5CDD505-2E9C-101B-9397-08002B2CF9AE}" pid="6" name="Slides">
    <vt:i4>13</vt:i4>
  </property>
</Properties>
</file>